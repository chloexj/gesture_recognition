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597" r:id="rId2"/>
    <p:sldId id="535" r:id="rId3"/>
    <p:sldId id="541" r:id="rId4"/>
    <p:sldId id="538" r:id="rId5"/>
    <p:sldId id="543" r:id="rId6"/>
    <p:sldId id="544" r:id="rId7"/>
    <p:sldId id="549" r:id="rId8"/>
    <p:sldId id="552" r:id="rId9"/>
    <p:sldId id="553" r:id="rId10"/>
    <p:sldId id="554" r:id="rId11"/>
    <p:sldId id="555" r:id="rId12"/>
    <p:sldId id="556" r:id="rId13"/>
    <p:sldId id="557" r:id="rId14"/>
    <p:sldId id="590" r:id="rId15"/>
    <p:sldId id="591" r:id="rId16"/>
    <p:sldId id="550" r:id="rId17"/>
    <p:sldId id="560" r:id="rId18"/>
    <p:sldId id="570" r:id="rId19"/>
    <p:sldId id="561" r:id="rId20"/>
    <p:sldId id="562" r:id="rId21"/>
    <p:sldId id="594" r:id="rId22"/>
    <p:sldId id="563" r:id="rId23"/>
    <p:sldId id="564" r:id="rId24"/>
    <p:sldId id="589" r:id="rId25"/>
    <p:sldId id="565" r:id="rId26"/>
    <p:sldId id="571" r:id="rId27"/>
    <p:sldId id="578" r:id="rId28"/>
    <p:sldId id="580" r:id="rId29"/>
    <p:sldId id="566" r:id="rId30"/>
    <p:sldId id="582" r:id="rId31"/>
    <p:sldId id="577" r:id="rId32"/>
    <p:sldId id="596" r:id="rId33"/>
    <p:sldId id="583" r:id="rId34"/>
    <p:sldId id="595" r:id="rId35"/>
    <p:sldId id="581" r:id="rId36"/>
    <p:sldId id="574" r:id="rId37"/>
    <p:sldId id="584" r:id="rId38"/>
    <p:sldId id="585" r:id="rId39"/>
    <p:sldId id="567" r:id="rId40"/>
    <p:sldId id="587" r:id="rId41"/>
    <p:sldId id="592" r:id="rId42"/>
    <p:sldId id="598" r:id="rId43"/>
    <p:sldId id="593" r:id="rId44"/>
    <p:sldId id="532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2" autoAdjust="0"/>
    <p:restoredTop sz="93992" autoAdjust="0"/>
  </p:normalViewPr>
  <p:slideViewPr>
    <p:cSldViewPr snapToGrid="0">
      <p:cViewPr varScale="1">
        <p:scale>
          <a:sx n="82" d="100"/>
          <a:sy n="82" d="100"/>
        </p:scale>
        <p:origin x="1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09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3921F8-C69E-5FAC-24CE-6F40F659DA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81C901-8A31-E25A-8D77-66B0B079C4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D9FEB-DDB3-43BD-B75F-09D47DBFEC5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555671-1600-F6FA-147B-3EC306D50A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10E048-D760-F3F3-805D-DE4619C4A3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EDFFD-323D-4722-B95C-310CDBD2B9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9634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9T06:10:48.8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0 188,'88'1,"97"-3,-104-10,-57 7,46-4,489 8,-270 3,3179-2,-3413-3,1-3,87-20,-25 3,152-1,-253 23,185-22,-42 3,252 13,-240 9,-44 0,134-5,-185-9,-52 7,40-3,482 6,-278 4,1428-2,-1312 30,-268-16,-14-1,145 10,-76-10,-14 0,6-15,73 4,-137 10,-57-6,55 2,1074-9,-1132 3,0 2,70 17,-69-12,1-2,58 4,15-13,56 3,-89 11,-54-7,50 4,398-9,-224-1,-103 14,-19-1,512-9,-329-5,2199 2,-2306 15,-107-5,109 14,114 7,-251-26,82 16,-86-10,101 5,-106-14,112 21,59 28,-76-16,-116-26,412 72,156 0,-418-41,-144-27,2-2,-1-2,74 3,58 1,14 0,1791-15,-1968 1,-1-1,1 0,-1-2,0 0,24-9,-23 6,1 2,0 0,0 1,23-2,-3 2,73-18,-77 14,0 1,64-5,39 14,64-3,-95-15,-52 6,125-31,-47 12,-88 18,0 2,74-7,25 0,-70 6,-50 6,0-1,36-14,17-3,-50 15,-1-1,27-12,6-2,5-2,-39 13,1 2,46-11,20 10,-69 9,0 0,0-2,0-1,-1-1,22-8,38-21,-43 16,1 2,56-15,-73 27,1 1,30 0,-37 3,1 0,-1-2,0 0,0-1,0 0,20-8,25-12,29-14,-45 18,88-25,-3 18,-88 19,0 3,-1 1,76 6,-28-1,488-2,-551 2,0 1,0 1,46 13,-44-9,1-2,51 6,-47-11,1 2,41 9,32 3,-16-3,-33-5,0-2,115-5,-69-2,341 2,-422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9T06:03:03.5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0 737,'2097'0,"-2082"-1,-1-1,1 0,0-1,-1-1,1 0,14-7,43-10,78 4,-104 10,-1 3,87 2,3 0,-56-11,-58 8,1 2,23-2,85 6,53-2,-102-11,18-1,21 0,-74 6,55-1,1541 9,-1610 1,42 7,7 1,15-6,-45-3,1 2,-1 2,82 19,-83-10,1-3,0-2,0-2,94 0,-135-7,92-2,164 18,-192-9,93-2,63 4,-22 7,224-13,-218-5,879 2,-928 13,-18 0,71 8,-196-18,52 9,-39-6,2 0,37-1,763-6,-816-1,0 0,0-2,0 0,31-11,-29 8,-1 1,1 1,33-3,-29 6,34-9,-37 6,48-3,-32 7,-2 1,-1-2,66-11,-53 6,-1 2,2 2,81 5,-29 0,-3 0,113-4,-146-10,-48 7,0 2,19-2,83-8,22-1,846 12,-474 4,-89 14,109-4,-340-14,3629 2,-3779 2,51 9,25 2,487-10,-311-6,157 3,-434-1,0-1,0-2,0 0,24-8,35-7,139-18,-79 15,-83 11,1 2,70-1,856 12,-947-4,59-11,-58 7,55-2,-36 7,81-12,-81 7,106 3,-9 1,-66-11,6 1,30 12,30-1,-90-12,-47 9,1 1,19-2,83-8,-65 6,60-1,-76 6,0-2,-1-1,0-3,50-15,16-4,-81 24,0 0,29 1,-31 1,0 0,0-1,25-6,78-14,-56 12,-20 5,0 1,63 4,-64 1,0-1,70-11,-30-2,33-6,220-61,-312 75,1 1,-1 2,0 0,49 4,-46 0,0-2,0-1,52-8,-39 2,0 2,1 2,62 4,51-4,-70-9,-51 6,44-1,-50 6,-1-1,1-1,29-7,-28 5,1 1,-1 1,57 4,-54 0,-1-1,1-2,37-7,-1-1,0 4,0 2,82 6,-36 0,-71-2,0-2,71-12,-70 8,0 2,0 2,58 4,71-3,-31-23,-12 2,220 15,-203 9,357-2,-480 1,0 2,31 6,-28-3,43 2,-47-6,0 1,0 1,0 2,-1 0,0 1,0 2,28 14,-33-16,0-1,0-1,29 4,-1-1,84 18,-108-22,1-1,0-1,24-1,-25-1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9T21:43:04.7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515 2 24575,'-101'-1'0,"-111"3"0,206-2 0,0 1 0,0 0 0,0 0 0,0 0 0,0 1 0,0-1 0,0 1 0,1 1 0,-1-1 0,1 1 0,0 0 0,-9 6 0,11-5 0,-1-1 0,1 1 0,0 0 0,1 0 0,-1 0 0,1 0 0,0 0 0,0 1 0,0-1 0,0 0 0,1 1 0,0 0 0,0-1 0,0 1 0,0 0 0,1 8 0,2 158 0,1-55 0,-1-92 0,0 0 0,2 0 0,1 0 0,14 44 0,-14-57 0,0 0 0,0 0 0,1 0 0,12 14 0,-12-16 0,0 0 0,0 0 0,0 1 0,-1 0 0,-1 0 0,4 11 0,0 4 0,0-1 0,2-1 0,1 1 0,1-2 0,0 1 0,2-2 0,1 0 0,27 31 0,-31-42 0,0-1 0,1 0 0,0 0 0,24 12 0,-24-15 0,1 2 0,-2-1 0,1 1 0,-1 1 0,16 15 0,-20-17 0,-1 0 0,1 0 0,-1 1 0,-1 0 0,1 0 0,-1 0 0,-1 1 0,1 0 0,-2 0 0,1 0 0,-1 0 0,0 0 0,-1 1 0,0-1 0,0 15 0,-1-10 0,-1 0 0,0 0 0,-1 0 0,-5 25 0,4-33 0,0 1 0,0-1 0,-1 0 0,0 0 0,0 0 0,0 0 0,-1 0 0,0-1 0,0 0 0,0 1 0,-1-2 0,-5 6 0,-1-3 0,1 0 0,-1-1 0,0 0 0,0-1 0,-1 0 0,0-1 0,0-1 0,0 0 0,-21 3 0,-22 7 0,17 0 0,27-8 0,1-1 0,-1-1 0,0 0 0,0 0 0,0-1 0,0 0 0,0-1 0,-15 0 0,22-2 0,0 0 0,0-1 0,0 1 0,0-1 0,0 0 0,0 0 0,0 0 0,0 0 0,1-1 0,-1 0 0,1 1 0,0-1 0,-6-6 0,-3-6 0,-20-32 0,11 16 0,14 20 0,0-1 0,1 0 0,1 0 0,-1 0 0,2-1 0,0 1 0,0-1 0,1 0 0,1-1 0,-1-15 0,1-8 0,2 0 0,6-54 0,-4 80 0,1 0 0,-1 0 0,2 0 0,0 0 0,7-14 0,-5 13 0,-1-1 0,7-25 0,-8 22 0,0 0 0,1 0 0,13-29 0,-15 39 0,0 1 0,1-1 0,-1 1 0,1-1 0,0 1 0,0 0 0,1 1 0,-1-1 0,1 1 0,0 0 0,0 0 0,1 0 0,5-2 0,5-3 0,-1 0 0,0-1 0,21-20 0,-19 16 0,32-21 0,-40 30 0,1-1 0,-1 0 0,0 0 0,0-1 0,-1-1 0,0 1 0,0-1 0,13-17 0,-17 18 0,1 1 0,0 1 0,0-1 0,0 0 0,1 1 0,0 0 0,0 1 0,0-1 0,1 1 0,0 0 0,-1 1 0,1 0 0,0 0 0,9-3 0,-11 4 0,0-1 0,0 0 0,0 0 0,0 0 0,0 0 0,-1-1 0,0 0 0,0 0 0,0 0 0,0-1 0,0 1 0,2-7 0,2-1 0,0 0 0,-2-1 0,10-24 0,-7 14-227,-2 0-1,0 0 1,-1-1-1,-2 0 1,3-43-1,-7 42-6598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9T21:43:07.2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400 59 24575,'-1'-2'0,"1"0"0,0 0 0,-1 0 0,0 0 0,1 0 0,-1 1 0,0-1 0,0 0 0,0 0 0,0 0 0,0 1 0,0-1 0,-1 1 0,1-1 0,-1 1 0,1-1 0,-1 1 0,1 0 0,-1 0 0,0 0 0,0 0 0,1 0 0,-1 0 0,-2-1 0,-4-1 0,1 0 0,-1 1 0,0 0 0,-13-3 0,7 3 0,0 1 0,1 0 0,-1 1 0,0 0 0,-16 3 0,27-3 0,-1 1 0,1 0 0,-1-1 0,1 1 0,0 1 0,-1-1 0,1 0 0,0 1 0,0 0 0,0-1 0,0 1 0,0 0 0,0 1 0,1-1 0,-1 0 0,1 1 0,-1 0 0,1-1 0,0 1 0,0 0 0,0 0 0,1 0 0,-1 1 0,1-1 0,-2 5 0,0 5 0,1 0 0,1 0 0,0 0 0,1 1 0,0-1 0,1 0 0,0 0 0,1 0 0,1 0 0,0 0 0,9 23 0,-5-17 0,2 0 0,0 0 0,1-1 0,1 0 0,1-1 0,25 29 0,-16-25 0,1-1 0,45 31 0,-62-47 0,1-1 0,0-1 0,0 1 0,1-1 0,10 3 0,-12-4 0,-1 0 0,0 0 0,0 0 0,0 0 0,0 1 0,-1 0 0,1 0 0,0 0 0,-1 0 0,1 0 0,-1 1 0,0-1 0,1 1 0,-1 0 0,-1 0 0,4 4 0,25 51 0,-26-45 0,1-1 0,1 0 0,0 0 0,12 15 0,-14-22 0,-1 1 0,0-1 0,0 1 0,-1 0 0,1 0 0,-1 0 0,-1 0 0,1 0 0,-1 1 0,0-1 0,0 1 0,0 7 0,-1-3 0,-1 0 0,0 0 0,-1 0 0,0 0 0,-1 0 0,-5 17 0,-2 18 0,8-36 0,-1 0 0,0 0 0,0-1 0,-1 1 0,0 0 0,-1-1 0,-7 14 0,3-10 0,5-8 0,0 0 0,0 0 0,0-1 0,0 1 0,-1 0 0,0-1 0,0 0 0,0 0 0,0 0 0,-1-1 0,0 1 0,1-1 0,-6 2 0,-28 14 0,27-12 0,0-1 0,-1-1 0,0 0 0,0 0 0,0-1 0,0-1 0,-1 0 0,-19 1 0,-17-1 0,-71-7 0,115 3 0,0 0 0,0-1 0,0 1 0,0-1 0,0 0 0,0-1 0,0 1 0,1-1 0,-1 0 0,1 0 0,0 0 0,0-1 0,0 1 0,0-1 0,1 0 0,-1 0 0,1 0 0,0-1 0,-5-9 0,0-2 0,0-1 0,1 0 0,1-1 0,-6-25 0,7 24 0,2-1 0,0 0 0,1 0 0,2-36 0,0 50 0,0-1 0,1 0 0,0 0 0,0 1 0,0-1 0,1 1 0,0-1 0,1 1 0,-1 0 0,1 0 0,0 0 0,1 0 0,-1 0 0,1 1 0,1-1 0,-1 1 0,9-8 0,0 6 0,-1 0 0,1 0 0,1 2 0,25-8 0,10-5 0,-43 15 0,0 0 0,-1 0 0,1-1 0,-1 1 0,0-1 0,0 0 0,-1-1 0,1 1 0,-1-1 0,0 0 0,0 0 0,0 0 0,-1-1 0,3-6 0,7-7 0,-8 10 0,1 0 0,1 0 0,-1 1 0,1 0 0,1 0 0,-1 1 0,1 0 0,1 0 0,-1 1 0,1 0 0,1 0 0,18-8 0,-22 11 0,0 0 0,-1 0 0,1-1 0,-1 0 0,0 0 0,0 0 0,0 0 0,-1-1 0,1 0 0,-1 0 0,0 0 0,-1 0 0,6-10 0,10-15 0,-16 27 0,1-1 0,-1 0 0,1 1 0,0 0 0,0 0 0,0 0 0,0 0 0,0 1 0,1 0 0,8-4 0,-10 5 0,0 0 0,1 0 0,-1 0 0,0-1 0,0 0 0,0 1 0,0-1 0,0 0 0,0-1 0,-1 1 0,1 0 0,-1-1 0,1 1 0,-1-1 0,0 0 0,0 0 0,0 0 0,-1 0 0,1 0 0,-1 0 0,1 0 0,1-7 0,11-86 0,-14 94 0,0 1 0,0-1 0,0 0 0,0 1 0,0-1 0,0 0 0,0 1 0,-1-1 0,1 0 0,0 1 0,-1-1 0,0 1 0,1-1 0,-1 1 0,0-1 0,0 1 0,1 0 0,-1-1 0,0 1 0,-1 0 0,1-1 0,0 1 0,0 0 0,0 0 0,-1 0 0,1 0 0,0 0 0,-1 1 0,1-1 0,-1 0 0,1 1 0,-1-1 0,0 1 0,1-1 0,-1 1 0,-2-1 0,-8 0 0,0-1 0,1 2 0,-1-1 0,-14 3 0,11-2 0,-13 1-1365,2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9T05:03:12.5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2651 1 24575,'-439'0'0,"421"1"0,-1 1 0,1 2 0,0-1 0,0 2 0,0 0 0,0 1 0,-18 10 0,30-12 0,-1 0 0,2 0 0,-1 1 0,0-1 0,1 1 0,0 0 0,0 1 0,0 0 0,1-1 0,-6 11 0,6-10 0,0 0 0,0 0 0,-1 0 0,0-1 0,0 1 0,0-1 0,0 0 0,-1-1 0,0 1 0,-10 5 0,7-7 0,1 1 0,0 0 0,0 1 0,1-1 0,-9 7 0,12-7 0,1 0 0,0-1 0,-1 1 0,1 1 0,1-1 0,-1 0 0,0 1 0,1-1 0,0 1 0,-2 8 0,-15 49 0,13-38 0,-1-1 0,-1-1 0,-1 0 0,-1 0 0,-12 21 0,-103 152-824,-27 37 824,85-143-1213,35-48-128,1 1 0,2 2-1,-37 74 1,52-85 1257,-2-1 0,-2 0 0,-33 47-1,39-63 85,2 1 0,0 1 0,-15 34 0,-5 12 0,-156 263 0,105-184 534,59-91 2372,19-42-2172,-1-1 0,1 0 0,-2 0 0,-7 14 0,-10 13-533,2 0-1,-16 43 1,32-70-174,-7 20-102,1 2-1,2-1 1,-5 35 0,8-38 0,-1 0 1,-1-1-1,-1 0 1,-20 44-1,21-54-3,0-1 0,1 1 0,1 0 0,-6 30-1,-4 69-349,12-84 455,-3 11 288,-13 42 0,-4 28-954,8-14-5577,3-20 6031,0-20 434,8-37-167,0-1 0,-2 33 0,5-31 1765,-10 45 0,6-44-3,-3 45-1,10 8-1843,0-49 0,-2 0 0,-5 49 0,1-60 0,0-1 0,-1 0 0,-1-1 0,-12 23 0,11-24 0,1 0 0,0 0 0,1 1 0,1 0 0,0-1 0,-3 18 0,4 10 0,3-30 0,0 1 0,-1 0 0,-1-1 0,0 1 0,0-1 0,-1 0 0,-9 21 0,-1-1 0,12-26 0,-1-1 0,1 1 0,-1-1 0,0 1 0,0-1 0,0 0 0,-1 0 0,0 0 0,1-1 0,-1 1 0,-1 0 0,1-1 0,0 0 0,-1 0 0,-4 3 0,0-1 0,0-1 0,0 1 0,1 1 0,-9 7 0,13-10 0,0 1 0,0-1 0,1 1 0,0 0 0,-1 0 0,1 0 0,0 0 0,1 0 0,-1 0 0,-1 7 0,-10 52 0,7-34 0,-11 33 0,14-55 0,-1 0 0,0 0 0,0 0 0,0 0 0,-1-1 0,-9 10 0,7-9 0,1 1 0,1-1 0,-1 1 0,-6 12 0,4-4 0,1 1 0,1-1 0,0 1 0,2 0 0,-1 0 0,2 1 0,1-1 0,-2 24 0,4-16-1365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9T05:03:33.4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464 30 24575,'-16'0'0,"-23"0"0,1-1 0,-1-1 0,-50-11 0,61 8 0,0 1 0,0 1 0,0 2 0,0 0 0,-30 5 0,56-4 0,-1 0 0,1 0 0,0 0 0,0 1 0,0-1 0,-1 1 0,1-1 0,0 1 0,0 0 0,0 0 0,0 0 0,0 0 0,0 0 0,1 0 0,-1 1 0,0-1 0,1 1 0,-3 2 0,3-3 0,0 1 0,1-1 0,-1 1 0,1-1 0,-1 1 0,1 0 0,0-1 0,-1 1 0,1 0 0,0 0 0,0-1 0,0 1 0,1 0 0,-1-1 0,0 1 0,1 0 0,-1-1 0,2 4 0,3 6 0,1 1 0,0-1 0,1 0 0,1 0 0,8 9 0,-6-6 0,-3-4 0,0 1 0,-1 0 0,0 0 0,-1 1 0,-1-1 0,1 1 0,3 21 0,-1 5 0,1 45 0,-7-65 0,4 18 0,15 61 0,-12-67 0,-2 1 0,0 0 0,0 34 0,-8-19 0,1-34 0,0 0 0,1-1 0,0 1 0,1 0 0,0-1 0,0 1 0,4 11 0,-3-20 0,-1-1 0,0 0 0,1 0 0,0 1 0,-1-1 0,1 0 0,0 0 0,0-1 0,0 1 0,0 0 0,1-1 0,-1 1 0,0-1 0,1 1 0,-1-1 0,0 0 0,1 0 0,0-1 0,-1 1 0,1 0 0,-1-1 0,1 1 0,3-1 0,9 1 0,0 0 0,30-3 0,-25 1 0,31-2 0,44-1 0,102 8 0,-171 3 120,-19-1-321,-17 0-1083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9T05:03:34.4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656 1 24575,'-656'0'-1365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D0285-1B7F-438D-AD15-668CDAE73D0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CEBDA-CEE0-4974-8BBF-3AF41543CC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90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CEBDA-CEE0-4974-8BBF-3AF41543CC5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465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CEBDA-CEE0-4974-8BBF-3AF41543CC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72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CEBDA-CEE0-4974-8BBF-3AF41543CC5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900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CEBDA-CEE0-4974-8BBF-3AF41543CC5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859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E2B4-CE15-FAEC-1238-9980B67C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DE3ED-17D7-946C-2DDB-67FE925D9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A5913-D1D4-B899-3F8A-0DBFE985D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2BAF8-479F-860C-E2DC-1C5510C0E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CEBDA-CEE0-4974-8BBF-3AF41543CC5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10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B5A2E-0F9F-8EE5-F278-9B63FCD4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F9A4F-52FE-3A48-3493-FA038C25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B15CF-2D1C-F01D-BA8A-338F1AB3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441E3C-C83D-0ACB-F3ED-94D18EEF9ED2}"/>
              </a:ext>
            </a:extLst>
          </p:cNvPr>
          <p:cNvSpPr/>
          <p:nvPr userDrawn="1"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0046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内容占位符 8">
            <a:extLst>
              <a:ext uri="{FF2B5EF4-FFF2-40B4-BE49-F238E27FC236}">
                <a16:creationId xmlns:a16="http://schemas.microsoft.com/office/drawing/2014/main" id="{179024FA-C200-FBE4-FC2B-42341096A3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951" y="5399573"/>
            <a:ext cx="7511970" cy="1321902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ea typeface="Arial Unicode MS" panose="020B0604020202020204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内容占位符 8">
            <a:extLst>
              <a:ext uri="{FF2B5EF4-FFF2-40B4-BE49-F238E27FC236}">
                <a16:creationId xmlns:a16="http://schemas.microsoft.com/office/drawing/2014/main" id="{25941F9A-8660-F4B7-92A4-16C099067A9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597" y="6469121"/>
            <a:ext cx="3107803" cy="39826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ea typeface="Arial Unicode MS" panose="020B0604020202020204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367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灯, 灯光, 交通, 沙滩&#10;&#10;描述已自动生成">
            <a:extLst>
              <a:ext uri="{FF2B5EF4-FFF2-40B4-BE49-F238E27FC236}">
                <a16:creationId xmlns:a16="http://schemas.microsoft.com/office/drawing/2014/main" id="{944A9F52-3072-E389-D077-C5B4597E1B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6" b="7816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箭头: V 形 2">
            <a:extLst>
              <a:ext uri="{FF2B5EF4-FFF2-40B4-BE49-F238E27FC236}">
                <a16:creationId xmlns:a16="http://schemas.microsoft.com/office/drawing/2014/main" id="{91DDE7F5-8369-1D86-CBC3-87B5A9F08AF3}"/>
              </a:ext>
            </a:extLst>
          </p:cNvPr>
          <p:cNvSpPr/>
          <p:nvPr userDrawn="1"/>
        </p:nvSpPr>
        <p:spPr>
          <a:xfrm>
            <a:off x="250825" y="222250"/>
            <a:ext cx="704850" cy="704850"/>
          </a:xfrm>
          <a:prstGeom prst="chevron">
            <a:avLst/>
          </a:prstGeom>
          <a:solidFill>
            <a:srgbClr val="0046AA"/>
          </a:solidFill>
          <a:ln>
            <a:solidFill>
              <a:srgbClr val="0046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箭头: V 形 3">
            <a:extLst>
              <a:ext uri="{FF2B5EF4-FFF2-40B4-BE49-F238E27FC236}">
                <a16:creationId xmlns:a16="http://schemas.microsoft.com/office/drawing/2014/main" id="{01415B47-2916-AE10-2F47-3A71AFB3569F}"/>
              </a:ext>
            </a:extLst>
          </p:cNvPr>
          <p:cNvSpPr/>
          <p:nvPr userDrawn="1"/>
        </p:nvSpPr>
        <p:spPr>
          <a:xfrm>
            <a:off x="647702" y="330200"/>
            <a:ext cx="352424" cy="488950"/>
          </a:xfrm>
          <a:prstGeom prst="chevron">
            <a:avLst>
              <a:gd name="adj" fmla="val 6708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1FFB4C-86E7-E64C-38EE-F5E8F8F1D3A8}"/>
              </a:ext>
            </a:extLst>
          </p:cNvPr>
          <p:cNvSpPr/>
          <p:nvPr userDrawn="1"/>
        </p:nvSpPr>
        <p:spPr>
          <a:xfrm>
            <a:off x="6221936" y="6779246"/>
            <a:ext cx="5970064" cy="7875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DA79E18-066B-8832-F497-CFA1CFAC6F96}"/>
              </a:ext>
            </a:extLst>
          </p:cNvPr>
          <p:cNvSpPr/>
          <p:nvPr userDrawn="1"/>
        </p:nvSpPr>
        <p:spPr>
          <a:xfrm>
            <a:off x="0" y="6696358"/>
            <a:ext cx="8976812" cy="161642"/>
          </a:xfrm>
          <a:custGeom>
            <a:avLst/>
            <a:gdLst>
              <a:gd name="connsiteX0" fmla="*/ 0 w 8976812"/>
              <a:gd name="connsiteY0" fmla="*/ 0 h 161642"/>
              <a:gd name="connsiteX1" fmla="*/ 8936402 w 8976812"/>
              <a:gd name="connsiteY1" fmla="*/ 0 h 161642"/>
              <a:gd name="connsiteX2" fmla="*/ 8976812 w 8976812"/>
              <a:gd name="connsiteY2" fmla="*/ 161642 h 161642"/>
              <a:gd name="connsiteX3" fmla="*/ 0 w 8976812"/>
              <a:gd name="connsiteY3" fmla="*/ 161642 h 1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76812" h="161642">
                <a:moveTo>
                  <a:pt x="0" y="0"/>
                </a:moveTo>
                <a:lnTo>
                  <a:pt x="8936402" y="0"/>
                </a:lnTo>
                <a:lnTo>
                  <a:pt x="8976812" y="161642"/>
                </a:lnTo>
                <a:lnTo>
                  <a:pt x="0" y="161642"/>
                </a:lnTo>
                <a:close/>
              </a:path>
            </a:pathLst>
          </a:custGeom>
          <a:solidFill>
            <a:srgbClr val="0046A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9CB4DC-1C17-07C6-1BFA-F764C7556F1D}"/>
              </a:ext>
            </a:extLst>
          </p:cNvPr>
          <p:cNvCxnSpPr>
            <a:cxnSpLocks/>
          </p:cNvCxnSpPr>
          <p:nvPr userDrawn="1"/>
        </p:nvCxnSpPr>
        <p:spPr>
          <a:xfrm>
            <a:off x="5938982" y="692696"/>
            <a:ext cx="5197578" cy="0"/>
          </a:xfrm>
          <a:prstGeom prst="line">
            <a:avLst/>
          </a:prstGeom>
          <a:ln w="25400">
            <a:solidFill>
              <a:srgbClr val="0046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9137C415-A43B-E744-73DF-03B4111D716D}"/>
              </a:ext>
            </a:extLst>
          </p:cNvPr>
          <p:cNvGrpSpPr/>
          <p:nvPr userDrawn="1"/>
        </p:nvGrpSpPr>
        <p:grpSpPr>
          <a:xfrm flipH="1">
            <a:off x="11276425" y="330200"/>
            <a:ext cx="440499" cy="417645"/>
            <a:chOff x="4443941" y="1581120"/>
            <a:chExt cx="1383394" cy="1311622"/>
          </a:xfr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3500000" scaled="0"/>
          </a:gradFill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08BAD6D-426D-8625-F7F6-69CA34CCF6B1}"/>
                </a:ext>
              </a:extLst>
            </p:cNvPr>
            <p:cNvSpPr/>
            <p:nvPr/>
          </p:nvSpPr>
          <p:spPr>
            <a:xfrm>
              <a:off x="4452581" y="1594913"/>
              <a:ext cx="100565" cy="1005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A99F52A-8893-A2ED-74F6-691635954B9E}"/>
                </a:ext>
              </a:extLst>
            </p:cNvPr>
            <p:cNvSpPr/>
            <p:nvPr/>
          </p:nvSpPr>
          <p:spPr>
            <a:xfrm>
              <a:off x="4451141" y="1794457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BCB800C-9AA2-8263-7729-C1DA6A91435F}"/>
                </a:ext>
              </a:extLst>
            </p:cNvPr>
            <p:cNvSpPr/>
            <p:nvPr/>
          </p:nvSpPr>
          <p:spPr>
            <a:xfrm>
              <a:off x="4449701" y="1994001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5BB1F00-9893-B4C8-3B0E-D8DB196677FA}"/>
                </a:ext>
              </a:extLst>
            </p:cNvPr>
            <p:cNvSpPr/>
            <p:nvPr/>
          </p:nvSpPr>
          <p:spPr>
            <a:xfrm>
              <a:off x="4448261" y="2193545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72357DD-233F-4EDF-B1BB-DFC5D007F332}"/>
                </a:ext>
              </a:extLst>
            </p:cNvPr>
            <p:cNvSpPr/>
            <p:nvPr/>
          </p:nvSpPr>
          <p:spPr>
            <a:xfrm>
              <a:off x="4446821" y="2393089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3610244-83CD-9E15-67CB-1C64941716DE}"/>
                </a:ext>
              </a:extLst>
            </p:cNvPr>
            <p:cNvSpPr/>
            <p:nvPr/>
          </p:nvSpPr>
          <p:spPr>
            <a:xfrm>
              <a:off x="4445381" y="2592633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AC88A75-D3B7-AC1F-B1AC-3418111EC80D}"/>
                </a:ext>
              </a:extLst>
            </p:cNvPr>
            <p:cNvSpPr/>
            <p:nvPr/>
          </p:nvSpPr>
          <p:spPr>
            <a:xfrm>
              <a:off x="4451141" y="1794457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9903093-9CAB-1ED2-27AF-725FAC2D1062}"/>
                </a:ext>
              </a:extLst>
            </p:cNvPr>
            <p:cNvSpPr/>
            <p:nvPr/>
          </p:nvSpPr>
          <p:spPr>
            <a:xfrm>
              <a:off x="4449701" y="1994001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EACA2FD-372C-82CD-718B-1BBED5656902}"/>
                </a:ext>
              </a:extLst>
            </p:cNvPr>
            <p:cNvSpPr/>
            <p:nvPr/>
          </p:nvSpPr>
          <p:spPr>
            <a:xfrm>
              <a:off x="4448261" y="2193545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19CB2C7-4B0A-5D15-DD7F-DB754FAA382E}"/>
                </a:ext>
              </a:extLst>
            </p:cNvPr>
            <p:cNvSpPr/>
            <p:nvPr/>
          </p:nvSpPr>
          <p:spPr>
            <a:xfrm>
              <a:off x="4446821" y="2393089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72A3387-AC4E-E544-3FDA-161FCBF40CDD}"/>
                </a:ext>
              </a:extLst>
            </p:cNvPr>
            <p:cNvSpPr/>
            <p:nvPr/>
          </p:nvSpPr>
          <p:spPr>
            <a:xfrm>
              <a:off x="4445381" y="2592633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7AF6E4E-31B9-D67D-1B67-2EB62FEE9F94}"/>
                </a:ext>
              </a:extLst>
            </p:cNvPr>
            <p:cNvSpPr/>
            <p:nvPr/>
          </p:nvSpPr>
          <p:spPr>
            <a:xfrm>
              <a:off x="4664946" y="1592614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563B9CD-56EA-D7BD-5A69-D4BE9D6170AC}"/>
                </a:ext>
              </a:extLst>
            </p:cNvPr>
            <p:cNvSpPr/>
            <p:nvPr/>
          </p:nvSpPr>
          <p:spPr>
            <a:xfrm>
              <a:off x="4663506" y="1792158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D7D33B7-43E6-4105-CD46-1D82A79A7100}"/>
                </a:ext>
              </a:extLst>
            </p:cNvPr>
            <p:cNvSpPr/>
            <p:nvPr/>
          </p:nvSpPr>
          <p:spPr>
            <a:xfrm>
              <a:off x="4662066" y="1991702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E2F9268-B97A-6676-048F-12319943E4E3}"/>
                </a:ext>
              </a:extLst>
            </p:cNvPr>
            <p:cNvSpPr/>
            <p:nvPr/>
          </p:nvSpPr>
          <p:spPr>
            <a:xfrm>
              <a:off x="4660626" y="2191246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3884A73-DE02-1673-A5D6-C3442938FCA5}"/>
                </a:ext>
              </a:extLst>
            </p:cNvPr>
            <p:cNvSpPr/>
            <p:nvPr/>
          </p:nvSpPr>
          <p:spPr>
            <a:xfrm>
              <a:off x="4659186" y="2390790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BA23B3E-4FF1-F302-4AE7-41072E97AD16}"/>
                </a:ext>
              </a:extLst>
            </p:cNvPr>
            <p:cNvSpPr/>
            <p:nvPr/>
          </p:nvSpPr>
          <p:spPr>
            <a:xfrm>
              <a:off x="4657746" y="2590334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F5CB985-C26E-0C71-88BB-BECBC7FABB28}"/>
                </a:ext>
              </a:extLst>
            </p:cNvPr>
            <p:cNvSpPr/>
            <p:nvPr/>
          </p:nvSpPr>
          <p:spPr>
            <a:xfrm>
              <a:off x="4877310" y="1590315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0F67CCEF-C2B0-2D04-A8A3-1B2D39F1F733}"/>
                </a:ext>
              </a:extLst>
            </p:cNvPr>
            <p:cNvSpPr/>
            <p:nvPr/>
          </p:nvSpPr>
          <p:spPr>
            <a:xfrm>
              <a:off x="4875870" y="1789859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1D2FF56D-E65D-DABF-8E7B-6E47DB9506D8}"/>
                </a:ext>
              </a:extLst>
            </p:cNvPr>
            <p:cNvSpPr/>
            <p:nvPr/>
          </p:nvSpPr>
          <p:spPr>
            <a:xfrm>
              <a:off x="4874430" y="1989403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2860BFE-FC41-7321-406F-0A22174EE72D}"/>
                </a:ext>
              </a:extLst>
            </p:cNvPr>
            <p:cNvSpPr/>
            <p:nvPr/>
          </p:nvSpPr>
          <p:spPr>
            <a:xfrm>
              <a:off x="4872990" y="2188947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65EBAFC-BBA2-B84E-2CEF-D4E39FA25272}"/>
                </a:ext>
              </a:extLst>
            </p:cNvPr>
            <p:cNvSpPr/>
            <p:nvPr/>
          </p:nvSpPr>
          <p:spPr>
            <a:xfrm>
              <a:off x="4871550" y="2388491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B7E01C2-5C09-7D6F-FFF4-C754A61B728F}"/>
                </a:ext>
              </a:extLst>
            </p:cNvPr>
            <p:cNvSpPr/>
            <p:nvPr/>
          </p:nvSpPr>
          <p:spPr>
            <a:xfrm>
              <a:off x="4870110" y="2588035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D4C7052F-8F31-A15C-4276-D9DCFF42F4AE}"/>
                </a:ext>
              </a:extLst>
            </p:cNvPr>
            <p:cNvSpPr/>
            <p:nvPr/>
          </p:nvSpPr>
          <p:spPr>
            <a:xfrm>
              <a:off x="5089675" y="1588016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DBC1B390-E28B-4556-A066-1CC16CBDDC34}"/>
                </a:ext>
              </a:extLst>
            </p:cNvPr>
            <p:cNvSpPr/>
            <p:nvPr/>
          </p:nvSpPr>
          <p:spPr>
            <a:xfrm>
              <a:off x="5088235" y="1787560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704F1C8-0119-3ED0-7075-A98C95C8D4CB}"/>
                </a:ext>
              </a:extLst>
            </p:cNvPr>
            <p:cNvSpPr/>
            <p:nvPr/>
          </p:nvSpPr>
          <p:spPr>
            <a:xfrm>
              <a:off x="5086795" y="1987104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E0CA43C-4610-07ED-0813-41168607DCC0}"/>
                </a:ext>
              </a:extLst>
            </p:cNvPr>
            <p:cNvSpPr/>
            <p:nvPr/>
          </p:nvSpPr>
          <p:spPr>
            <a:xfrm>
              <a:off x="5302040" y="1585718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97DE95D-6AE7-48A4-0029-90EEEC2B6F42}"/>
                </a:ext>
              </a:extLst>
            </p:cNvPr>
            <p:cNvSpPr/>
            <p:nvPr/>
          </p:nvSpPr>
          <p:spPr>
            <a:xfrm>
              <a:off x="5300600" y="1785262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95FAA58D-0F83-B582-2C8C-63CE7EAB7F41}"/>
                </a:ext>
              </a:extLst>
            </p:cNvPr>
            <p:cNvSpPr/>
            <p:nvPr/>
          </p:nvSpPr>
          <p:spPr>
            <a:xfrm>
              <a:off x="5299160" y="1984806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4CAF0CE-1261-6B6D-53A8-33D3A99B2337}"/>
                </a:ext>
              </a:extLst>
            </p:cNvPr>
            <p:cNvSpPr/>
            <p:nvPr/>
          </p:nvSpPr>
          <p:spPr>
            <a:xfrm>
              <a:off x="5514405" y="1583419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DEBC381B-F47D-B95F-E0B9-45BD8C75C15C}"/>
                </a:ext>
              </a:extLst>
            </p:cNvPr>
            <p:cNvSpPr/>
            <p:nvPr/>
          </p:nvSpPr>
          <p:spPr>
            <a:xfrm>
              <a:off x="5512965" y="1782963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8F8101D3-10A6-1E21-6C50-FE6AEEC3C98C}"/>
                </a:ext>
              </a:extLst>
            </p:cNvPr>
            <p:cNvSpPr/>
            <p:nvPr/>
          </p:nvSpPr>
          <p:spPr>
            <a:xfrm>
              <a:off x="5511525" y="1982507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CBC705E-FA47-69F4-A21C-E6F0E46FDA40}"/>
                </a:ext>
              </a:extLst>
            </p:cNvPr>
            <p:cNvSpPr/>
            <p:nvPr/>
          </p:nvSpPr>
          <p:spPr>
            <a:xfrm>
              <a:off x="5726770" y="1581120"/>
              <a:ext cx="100565" cy="1005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F0943E8-012F-7AF4-970D-BDDB7C5FCB95}"/>
                </a:ext>
              </a:extLst>
            </p:cNvPr>
            <p:cNvSpPr/>
            <p:nvPr/>
          </p:nvSpPr>
          <p:spPr>
            <a:xfrm>
              <a:off x="5725330" y="1780664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3B91FFB5-1BC8-DCF0-BE15-C764069C3B22}"/>
                </a:ext>
              </a:extLst>
            </p:cNvPr>
            <p:cNvSpPr/>
            <p:nvPr/>
          </p:nvSpPr>
          <p:spPr>
            <a:xfrm>
              <a:off x="5723890" y="1980208"/>
              <a:ext cx="100565" cy="100565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3A6983F-8121-16B0-8F7A-15A8EDE22C28}"/>
                </a:ext>
              </a:extLst>
            </p:cNvPr>
            <p:cNvSpPr/>
            <p:nvPr/>
          </p:nvSpPr>
          <p:spPr>
            <a:xfrm>
              <a:off x="4443941" y="2792177"/>
              <a:ext cx="100565" cy="1005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96D7B6D-DC52-21BF-C5E8-185EF4FCCDED}"/>
                </a:ext>
              </a:extLst>
            </p:cNvPr>
            <p:cNvSpPr/>
            <p:nvPr/>
          </p:nvSpPr>
          <p:spPr>
            <a:xfrm>
              <a:off x="4656306" y="2789878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213CE131-066A-9380-96EC-2BE0305A6453}"/>
                </a:ext>
              </a:extLst>
            </p:cNvPr>
            <p:cNvSpPr/>
            <p:nvPr/>
          </p:nvSpPr>
          <p:spPr>
            <a:xfrm>
              <a:off x="4868670" y="2787579"/>
              <a:ext cx="100565" cy="100565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285D737A-1945-C7B3-1823-143A6E1E0C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1915" y="368338"/>
            <a:ext cx="1620957" cy="487378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ea"/>
                <a:ea typeface="Arial Unicode MS" panose="020B0604020202020204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282413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灯, 灯光, 交通, 沙滩">
            <a:extLst>
              <a:ext uri="{FF2B5EF4-FFF2-40B4-BE49-F238E27FC236}">
                <a16:creationId xmlns:a16="http://schemas.microsoft.com/office/drawing/2014/main" id="{982C504F-F637-FA67-AE78-720495F5C9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6" b="7816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矩形 16"/>
          <p:cNvSpPr/>
          <p:nvPr userDrawn="1"/>
        </p:nvSpPr>
        <p:spPr>
          <a:xfrm>
            <a:off x="2190723" y="4133909"/>
            <a:ext cx="9429816" cy="1352491"/>
          </a:xfrm>
          <a:prstGeom prst="rect">
            <a:avLst/>
          </a:prstGeom>
          <a:solidFill>
            <a:srgbClr val="0046AA"/>
          </a:solidFill>
          <a:ln w="12700" cmpd="sng">
            <a:solidFill>
              <a:srgbClr val="004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96000" rIns="192000" bIns="96000" numCol="1" spcCol="0" rtlCol="0" fromWordArt="0" anchor="t" anchorCtr="0" forceAA="0" compatLnSpc="1">
            <a:noAutofit/>
          </a:bodyPr>
          <a:lstStyle/>
          <a:p>
            <a:pPr>
              <a:lnSpc>
                <a:spcPts val="1867"/>
              </a:lnSpc>
            </a:pPr>
            <a:endParaRPr lang="nb-NO" sz="1200" b="0" i="0" kern="1200" dirty="0">
              <a:solidFill>
                <a:srgbClr val="FFFFFF"/>
              </a:solidFill>
              <a:latin typeface="+mn-lt"/>
              <a:ea typeface="+mn-ea"/>
              <a:cs typeface="Whitney-Book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190723" y="2653156"/>
            <a:ext cx="7220373" cy="22216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933"/>
              </a:lnSpc>
            </a:pPr>
            <a:r>
              <a:rPr lang="en-US" altLang="zh-CN" sz="8000" dirty="0">
                <a:solidFill>
                  <a:srgbClr val="0046AA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THANK YOU</a:t>
            </a:r>
          </a:p>
          <a:p>
            <a:pPr>
              <a:lnSpc>
                <a:spcPts val="2933"/>
              </a:lnSpc>
            </a:pPr>
            <a:endParaRPr lang="en-US" altLang="zh-CN" sz="5400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946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A31CB-AEFE-0420-CE70-589F8E0E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C6175B-BA12-C4D2-81E3-5E60CA5C7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69B166-D36A-AF08-7375-6A62B030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AB1B3E-4265-8258-1916-D5D28FE7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BCEF4-AE69-98FE-17DE-650D104A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85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27BF2-BE2B-2054-6703-8EC94D32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2DF92A-4798-E934-7596-EFA2150B5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F306CA-8B9D-C802-0361-CC84BE06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83FE1-6291-BD4A-505B-891B2215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4561B5-BAF1-5850-36B8-055E6DAC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90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41FA4-E733-1C1C-2DDA-5EEB5FC0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163ADD-5972-55B4-BD46-29EBFFF24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33C1C5-7953-1E69-7979-44E8FA445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A89191-F83C-0BB2-D207-2040938C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EBDFA-F7EA-0E59-9836-08603A54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2C0A0E-A68C-2874-9F80-80BAB609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34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1CC4F-8E67-E1E0-0D3F-581B292A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0EE207-620A-C78E-DC4B-A707CF6EF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3F7687-9F55-AEA5-C649-7D9EF110B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1D3CB6-B1FF-2DD6-5556-9514BD764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4D387D-DA9A-BB6E-48CC-FD2BDCA4C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54A509-A1D1-B768-2BE7-1B864155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B27325-81E9-6121-9837-2C250B5C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2DE1C3-0363-1097-E646-580D9E6A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53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F9B25-78BA-3BD6-A4A7-7A7A86C9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09B8B4-CCA6-F626-CD26-3C68CEF1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6DCF6C-A645-4F33-ADAF-B050D18C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8233CF-86B4-7524-1647-B0626A3B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67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30A68E-887D-62F7-11E2-335F7713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2F77C4-DA19-50FD-4D4E-EE7C2D24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348B2A-08D1-FF3B-4DCC-DA31DEB5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99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1EC3E-3E1F-F6AB-9FDC-596A6F87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93627A-35E5-FB1E-3C1E-5D794E6B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57980C-422E-C8F7-4E3D-0231C589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46963D-CFD8-440E-AA9E-27D2F6A8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EB8F05-0BFF-11C5-1EBF-3537EE84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5885AB-76A9-6240-27FC-89773489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64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30051-868F-DF3D-B125-D393B34C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FFE3BB-FB1E-4C86-8DB8-7F7AF8CCA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9F776A-0BC5-5B27-5B71-72FE60DF6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4F3AB-CF6A-1EBE-018E-4A84BC6B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C2FCE8-A55E-617C-45E0-8A97B15F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5676EC-1C2C-1E60-683D-7AAC9B37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344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7F8D0-B45D-2BCF-D9E0-92C2FDC7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993A21-9854-7A1F-7AD2-75395D9AF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47F154-6FF0-CA86-7DA5-B2D308F4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CD8CC-90D6-BA2A-101D-ACCA037D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CB90F7-DF2A-9FAC-94E6-7A38A1B0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989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30F8F6-0C6B-268A-B853-87E9EF813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FFF9E-E76B-DD88-BF9B-E2E65BC59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1426EF-69CA-EE23-6B97-FB31CEB2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9D54E4-96A7-2C84-2C22-FB496A48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AFBA5-F20F-8274-A58B-EFC1DE88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971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灯, 灯光, 交通, 沙滩&#10;&#10;描述已自动生成">
            <a:extLst>
              <a:ext uri="{FF2B5EF4-FFF2-40B4-BE49-F238E27FC236}">
                <a16:creationId xmlns:a16="http://schemas.microsoft.com/office/drawing/2014/main" id="{85BCF0A0-9B98-7A83-6A04-C834DCF40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6" b="7816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 userDrawn="1"/>
        </p:nvSpPr>
        <p:spPr>
          <a:xfrm>
            <a:off x="0" y="164639"/>
            <a:ext cx="12192000" cy="564821"/>
          </a:xfrm>
          <a:prstGeom prst="rect">
            <a:avLst/>
          </a:prstGeom>
          <a:solidFill>
            <a:srgbClr val="0046AA"/>
          </a:solidFill>
        </p:spPr>
        <p:txBody>
          <a:bodyPr vert="horz" lIns="192000" tIns="96000" rIns="192000" bIns="96000" rtlCol="0">
            <a:noAutofit/>
          </a:bodyPr>
          <a:lstStyle/>
          <a:p>
            <a:pPr marL="16933" lvl="0"/>
            <a:endParaRPr lang="en-US" altLang="zh-CN" sz="2800" spc="-33" dirty="0">
              <a:solidFill>
                <a:srgbClr val="FFFFFF"/>
              </a:solidFill>
              <a:latin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/>
          </p:nvPr>
        </p:nvSpPr>
        <p:spPr>
          <a:xfrm>
            <a:off x="0" y="165099"/>
            <a:ext cx="12192000" cy="56436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  <a:latin typeface="+mn-ea"/>
                <a:ea typeface="Arial Unicode MS" panose="020B0604020202020204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5903979" cy="48005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600F4F3-76F3-67E9-3A0C-40401DD67A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8158A8-48D3-F445-2D1C-795611BC5EE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 dirty="0"/>
              <a:t>Xianjing Zhang/Chloe 2098776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F317D0-1DFC-5707-878D-AC37ECCBF19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580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27000"/>
            <a:lum/>
          </a:blip>
          <a:srcRect/>
          <a:stretch>
            <a:fillRect l="-206000" r="-2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E39C3-8053-EA5A-E5E9-237B1D1EB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268618-231C-E0D4-B7F0-D11F3A4C4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C673F-5777-CCF8-3705-9010C7F16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DD66D-5998-DF29-1B30-7CC127B7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2BA19B-3CEA-632F-0CFF-59C462234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2712B-93F3-4672-A755-C979EEEC52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93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36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0.png"/><Relationship Id="rId5" Type="http://schemas.openxmlformats.org/officeDocument/2006/relationships/customXml" Target="../ink/ink3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40.png"/><Relationship Id="rId7" Type="http://schemas.openxmlformats.org/officeDocument/2006/relationships/customXml" Target="../ink/ink5.xml"/><Relationship Id="rId12" Type="http://schemas.openxmlformats.org/officeDocument/2006/relationships/image" Target="../media/image3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png"/><Relationship Id="rId11" Type="http://schemas.openxmlformats.org/officeDocument/2006/relationships/customXml" Target="../ink/ink7.xml"/><Relationship Id="rId5" Type="http://schemas.openxmlformats.org/officeDocument/2006/relationships/image" Target="../media/image42.png"/><Relationship Id="rId10" Type="http://schemas.openxmlformats.org/officeDocument/2006/relationships/image" Target="../media/image380.png"/><Relationship Id="rId4" Type="http://schemas.openxmlformats.org/officeDocument/2006/relationships/image" Target="../media/image41.gif"/><Relationship Id="rId9" Type="http://schemas.openxmlformats.org/officeDocument/2006/relationships/customXml" Target="../ink/ink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gif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gif"/><Relationship Id="rId2" Type="http://schemas.openxmlformats.org/officeDocument/2006/relationships/image" Target="../media/image71.gi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4.gif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505215-9CAF-DE09-48C4-76CB32E4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709B5B-A924-6B96-A90B-8212EE0BB4C1}"/>
              </a:ext>
            </a:extLst>
          </p:cNvPr>
          <p:cNvSpPr txBox="1"/>
          <p:nvPr/>
        </p:nvSpPr>
        <p:spPr>
          <a:xfrm>
            <a:off x="110413" y="328646"/>
            <a:ext cx="1197117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What Are Neural Networks? An Introduction to Machine Learning</a:t>
            </a:r>
          </a:p>
          <a:p>
            <a:r>
              <a:rPr lang="en-US" altLang="zh-CN" sz="1400" dirty="0"/>
              <a:t>Have you ever wondered how the AI tools we use every day actually work? What's happening behind the scenes? And if modern AI is a huge building, what are the bricks it is built from?</a:t>
            </a:r>
          </a:p>
          <a:p>
            <a:r>
              <a:rPr lang="en-US" altLang="zh-CN" sz="1400" dirty="0"/>
              <a:t>How can machines automatically learn useful features from data and perform tasks that once required human intelligence? When AI engineers talk about "training a model," what exactly are they training? What is a "model" in the first place?</a:t>
            </a:r>
          </a:p>
          <a:p>
            <a:r>
              <a:rPr lang="en-US" altLang="zh-CN" sz="1400" dirty="0"/>
              <a:t>Why do people call AI a "black box"? Why can't even AI researchers always explain exactly how AI comes up with an answer? And why can AI give different answers to the exact same question?</a:t>
            </a:r>
          </a:p>
          <a:p>
            <a:r>
              <a:rPr lang="en-US" altLang="zh-CN" sz="1400" b="1" dirty="0"/>
              <a:t>By the end of this session, you'll have a much clearer understanding of these questions and the fundamental ideas behind them.</a:t>
            </a:r>
            <a:endParaRPr lang="en-US" altLang="zh-CN" sz="1400" dirty="0"/>
          </a:p>
          <a:p>
            <a:r>
              <a:rPr lang="en-US" altLang="zh-CN" sz="1400" dirty="0"/>
              <a:t>Let's start with one of the fundamental building blocks of modern AI: </a:t>
            </a:r>
            <a:r>
              <a:rPr lang="en-US" altLang="zh-CN" sz="1400" b="1" dirty="0"/>
              <a:t>neural networks</a:t>
            </a:r>
            <a:r>
              <a:rPr lang="en-US" altLang="zh-CN" sz="1400" dirty="0"/>
              <a:t>. The foundational research behind them even earned a Nobel Prize in Physics in 2024. Yes, physics!</a:t>
            </a:r>
          </a:p>
          <a:p>
            <a:r>
              <a:rPr lang="en-US" altLang="zh-CN" sz="1400" dirty="0"/>
              <a:t>This session is for everyone. </a:t>
            </a:r>
            <a:r>
              <a:rPr lang="en-US" altLang="zh-CN" sz="1400" b="1" dirty="0"/>
              <a:t>No background in math, computer science, biology, or neuroscience required.</a:t>
            </a:r>
            <a:r>
              <a:rPr lang="en-US" altLang="zh-CN" sz="1400" dirty="0"/>
              <a:t> Through simple explanations, visual examples, and a little </a:t>
            </a:r>
            <a:r>
              <a:rPr lang="en-US" altLang="zh-CN" sz="1400" dirty="0" err="1"/>
              <a:t>humour</a:t>
            </a:r>
            <a:r>
              <a:rPr lang="en-US" altLang="zh-CN" sz="1400" dirty="0"/>
              <a:t>, we'll explore what neural networks are and how they learn.</a:t>
            </a:r>
          </a:p>
          <a:p>
            <a:r>
              <a:rPr lang="en-US" altLang="zh-CN" sz="1400" dirty="0"/>
              <a:t>My goal is for you to understand at least </a:t>
            </a:r>
            <a:r>
              <a:rPr lang="en-US" altLang="zh-CN" sz="1400" b="1" dirty="0"/>
              <a:t>90% of the session</a:t>
            </a:r>
            <a:r>
              <a:rPr lang="en-US" altLang="zh-CN" sz="1400" dirty="0"/>
              <a:t> and enjoy the process. The remaining 10%? That's my buffer for unexpected confusion — and a little humility.</a:t>
            </a:r>
          </a:p>
          <a:p>
            <a:r>
              <a:rPr lang="en-US" altLang="zh-CN" sz="1400" dirty="0"/>
              <a:t>Trust me, we'll explore some deep ideas, but in a way that's fun and easy to follow. It'll be time well spent!</a:t>
            </a:r>
          </a:p>
          <a:p>
            <a:r>
              <a:rPr lang="en-US" altLang="zh-CN" sz="1400" dirty="0"/>
              <a:t>Come explore the beauty of computer science and the remarkable human ideas behind artificial intelligence.</a:t>
            </a:r>
          </a:p>
          <a:p>
            <a:r>
              <a:rPr lang="en-US" altLang="zh-CN" sz="1400" b="1" dirty="0"/>
              <a:t>What Will You Take Away?</a:t>
            </a:r>
          </a:p>
          <a:p>
            <a:r>
              <a:rPr lang="en-US" altLang="zh-CN" sz="1400" b="1" dirty="0"/>
              <a:t>If you have no computer science background:</a:t>
            </a:r>
            <a:endParaRPr lang="en-US" altLang="zh-CN" sz="1400" dirty="0"/>
          </a:p>
          <a:p>
            <a:r>
              <a:rPr lang="en-US" altLang="zh-CN" sz="1400" dirty="0"/>
              <a:t>Don't worry — you're exactly who this session is designed for! Expect a fun, visual introduction that makes neural networks and machine learning easy to understand. You'll leave ready to explain the basic ideas behind neural networks (like multilayer </a:t>
            </a:r>
            <a:r>
              <a:rPr lang="en-US" altLang="zh-CN" sz="1400" dirty="0" err="1"/>
              <a:t>perceptrons</a:t>
            </a:r>
            <a:r>
              <a:rPr lang="en-US" altLang="zh-CN" sz="1400" dirty="0"/>
              <a:t> and convolutional neural networks) to a friend. You might even explain them more clearly than most computer science professionals! And yes, that's cool.</a:t>
            </a:r>
          </a:p>
          <a:p>
            <a:r>
              <a:rPr lang="en-US" altLang="zh-CN" sz="1400" b="1" dirty="0"/>
              <a:t>If you have a technical background (or simply have a development environment set up) but are new to machine learning:</a:t>
            </a:r>
            <a:endParaRPr lang="en-US" altLang="zh-CN" sz="1400" dirty="0"/>
          </a:p>
          <a:p>
            <a:r>
              <a:rPr lang="en-US" altLang="zh-CN" sz="1400" dirty="0"/>
              <a:t>You'll get a starting point for training a simple model yourself, along with an understanding of what's happening behind the code.</a:t>
            </a:r>
          </a:p>
          <a:p>
            <a:r>
              <a:rPr lang="en-US" altLang="zh-CN" sz="1400" b="1" dirty="0"/>
              <a:t>If you already know machine learning:</a:t>
            </a:r>
            <a:endParaRPr lang="en-US" altLang="zh-CN" sz="1400" dirty="0"/>
          </a:p>
          <a:p>
            <a:r>
              <a:rPr lang="en-US" altLang="zh-CN" sz="1400" dirty="0"/>
              <a:t>You might pick up some ideas for explaining technical concepts in a way that is simple, interesting, and perhaps even a little poetic.</a:t>
            </a:r>
          </a:p>
          <a:p>
            <a:r>
              <a:rPr lang="en-US" altLang="zh-CN" sz="1400" b="1" dirty="0"/>
              <a:t>If you're a machine learning expert AND a great presenter:</a:t>
            </a:r>
            <a:endParaRPr lang="en-US" altLang="zh-CN" sz="1400" dirty="0"/>
          </a:p>
          <a:p>
            <a:r>
              <a:rPr lang="en-US" altLang="zh-CN" sz="1400" dirty="0"/>
              <a:t>Sorry, you're not welcome.</a:t>
            </a:r>
          </a:p>
          <a:p>
            <a:r>
              <a:rPr lang="en-US" altLang="zh-CN" sz="1400" dirty="0"/>
              <a:t>Just kidding! Please come — I'd love your feedback and advice on how to make this session even better.</a:t>
            </a:r>
          </a:p>
        </p:txBody>
      </p:sp>
    </p:spTree>
    <p:extLst>
      <p:ext uri="{BB962C8B-B14F-4D97-AF65-F5344CB8AC3E}">
        <p14:creationId xmlns:p14="http://schemas.microsoft.com/office/powerpoint/2010/main" val="252311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512E3A-813B-2412-A1C7-6327D04F8F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3068" y="5456140"/>
            <a:ext cx="11429528" cy="1321902"/>
          </a:xfrm>
        </p:spPr>
        <p:txBody>
          <a:bodyPr/>
          <a:lstStyle/>
          <a:p>
            <a:r>
              <a:rPr lang="en-US" altLang="zh-CN" sz="2800" dirty="0"/>
              <a:t>What are Neural Networks? An Introduction to Machine Learning</a:t>
            </a:r>
          </a:p>
          <a:p>
            <a:r>
              <a:rPr lang="en-US" altLang="zh-CN" sz="2800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260DA-DBDA-1136-ACD0-A7000973DD1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43068" y="6459738"/>
            <a:ext cx="3107803" cy="398262"/>
          </a:xfrm>
        </p:spPr>
        <p:txBody>
          <a:bodyPr/>
          <a:lstStyle/>
          <a:p>
            <a:r>
              <a:rPr lang="en-US" altLang="zh-CN" sz="1600" dirty="0"/>
              <a:t>Date: 17/Oct/2026</a:t>
            </a:r>
          </a:p>
          <a:p>
            <a:endParaRPr lang="zh-CN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C9AD2-A675-5322-C027-60393167C390}"/>
              </a:ext>
            </a:extLst>
          </p:cNvPr>
          <p:cNvSpPr txBox="1"/>
          <p:nvPr/>
        </p:nvSpPr>
        <p:spPr>
          <a:xfrm>
            <a:off x="243068" y="6010448"/>
            <a:ext cx="630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Arial Unicode MS" panose="020B0604020202020204"/>
              </a:rPr>
              <a:t>Chloe Zhang</a:t>
            </a:r>
            <a:endParaRPr lang="zh-CN" altLang="en-US" dirty="0">
              <a:solidFill>
                <a:schemeClr val="bg1"/>
              </a:solidFill>
              <a:ea typeface="Arial Unicode M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108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DD66C-62C0-9FE7-88BC-367AC184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6B94FDD-66B1-92FF-BBBA-EFF0C1245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316152-6FB9-BADE-1564-961D7358E565}"/>
              </a:ext>
            </a:extLst>
          </p:cNvPr>
          <p:cNvSpPr txBox="1"/>
          <p:nvPr/>
        </p:nvSpPr>
        <p:spPr>
          <a:xfrm>
            <a:off x="961898" y="1249773"/>
            <a:ext cx="10440110" cy="403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altLang="zh-CN" sz="2800" dirty="0">
                <a:highlight>
                  <a:srgbClr val="FFFF00"/>
                </a:highlight>
              </a:rPr>
              <a:t>A Toy Project: The Starting Point of Our Story</a:t>
            </a:r>
          </a:p>
          <a:p>
            <a:pPr>
              <a:lnSpc>
                <a:spcPct val="300000"/>
              </a:lnSpc>
            </a:pPr>
            <a:r>
              <a:rPr lang="en-US" altLang="zh-CN" sz="2000" i="1" dirty="0"/>
              <a:t>Real-Time Hand Gesture Recognition , Cat or Dog Classification</a:t>
            </a:r>
            <a:endParaRPr lang="en-US" altLang="zh-CN" sz="2000" i="1" dirty="0">
              <a:highlight>
                <a:srgbClr val="FFFF00"/>
              </a:highlight>
            </a:endParaRPr>
          </a:p>
          <a:p>
            <a:pPr>
              <a:lnSpc>
                <a:spcPct val="300000"/>
              </a:lnSpc>
            </a:pPr>
            <a:r>
              <a:rPr lang="en-US" altLang="zh-CN" sz="2800" dirty="0"/>
              <a:t>2. How It Works — The Underlying Mechanism of Neural Networks</a:t>
            </a:r>
          </a:p>
          <a:p>
            <a:pPr>
              <a:lnSpc>
                <a:spcPct val="250000"/>
              </a:lnSpc>
            </a:pPr>
            <a:r>
              <a:rPr lang="en-US" altLang="zh-CN" sz="2000" i="1" dirty="0"/>
              <a:t>Multilayer Perceptron and Convolutional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94906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81B10C-299B-34E6-509B-E5ACB97A4E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Toy Project: The Starting Point of Our Story</a:t>
            </a:r>
          </a:p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FDEED-8B9B-DB85-0E8D-F00070395E5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Project Structure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166AA7-88F8-8C1F-1DEE-BF3AAE04077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04973-7034-C18F-2774-E8C682E6FEAD}"/>
              </a:ext>
            </a:extLst>
          </p:cNvPr>
          <p:cNvSpPr txBox="1"/>
          <p:nvPr/>
        </p:nvSpPr>
        <p:spPr>
          <a:xfrm>
            <a:off x="95705" y="1076740"/>
            <a:ext cx="7839986" cy="2543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G</a:t>
            </a:r>
            <a:r>
              <a:rPr lang="zh-CN" altLang="en-US" dirty="0"/>
              <a:t>esture</a:t>
            </a:r>
            <a:r>
              <a:rPr lang="en-US" altLang="zh-CN" dirty="0"/>
              <a:t>Recognition</a:t>
            </a:r>
            <a:r>
              <a:rPr lang="zh-CN" altLang="en-US" dirty="0"/>
              <a:t>/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├── </a:t>
            </a:r>
            <a:r>
              <a:rPr lang="zh-CN" altLang="en-US" dirty="0">
                <a:highlight>
                  <a:srgbClr val="FFFF00"/>
                </a:highlight>
              </a:rPr>
              <a:t>collect_data.py</a:t>
            </a:r>
            <a:r>
              <a:rPr lang="zh-CN" altLang="en-US" dirty="0"/>
              <a:t>                   </a:t>
            </a:r>
            <a:r>
              <a:rPr lang="zh-CN" altLang="en-US" dirty="0">
                <a:solidFill>
                  <a:srgbClr val="00B050"/>
                </a:solidFill>
              </a:rPr>
              <a:t># 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zh-CN" altLang="en-US" dirty="0">
                <a:solidFill>
                  <a:srgbClr val="00B050"/>
                </a:solidFill>
              </a:rPr>
              <a:t>ollect gesture </a:t>
            </a:r>
            <a:r>
              <a:rPr lang="en-US" altLang="zh-CN" dirty="0">
                <a:solidFill>
                  <a:srgbClr val="00B050"/>
                </a:solidFill>
              </a:rPr>
              <a:t>data</a:t>
            </a:r>
            <a:endParaRPr lang="zh-CN" alt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├── </a:t>
            </a:r>
            <a:r>
              <a:rPr lang="zh-CN" altLang="en-US" dirty="0">
                <a:highlight>
                  <a:srgbClr val="00FFFF"/>
                </a:highlight>
              </a:rPr>
              <a:t>train_model.py</a:t>
            </a:r>
            <a:r>
              <a:rPr lang="zh-CN" altLang="en-US" dirty="0"/>
              <a:t>                   </a:t>
            </a:r>
            <a:r>
              <a:rPr lang="zh-CN" altLang="en-US" dirty="0">
                <a:solidFill>
                  <a:srgbClr val="00B050"/>
                </a:solidFill>
              </a:rPr>
              <a:t># </a:t>
            </a:r>
            <a:r>
              <a:rPr lang="en-US" altLang="zh-CN" dirty="0">
                <a:solidFill>
                  <a:srgbClr val="00B050"/>
                </a:solidFill>
              </a:rPr>
              <a:t>Train </a:t>
            </a:r>
            <a:r>
              <a:rPr lang="zh-CN" altLang="en-US" dirty="0">
                <a:solidFill>
                  <a:srgbClr val="00B050"/>
                </a:solidFill>
              </a:rPr>
              <a:t>model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├── </a:t>
            </a:r>
            <a:r>
              <a:rPr lang="zh-CN" altLang="en-US" dirty="0">
                <a:highlight>
                  <a:srgbClr val="00FF00"/>
                </a:highlight>
              </a:rPr>
              <a:t>recognize_real_time.py</a:t>
            </a:r>
            <a:r>
              <a:rPr lang="zh-CN" altLang="en-US" dirty="0"/>
              <a:t>      </a:t>
            </a:r>
            <a:r>
              <a:rPr lang="zh-CN" altLang="en-US" dirty="0">
                <a:solidFill>
                  <a:srgbClr val="00B050"/>
                </a:solidFill>
              </a:rPr>
              <a:t># Real time recognize </a:t>
            </a:r>
            <a:r>
              <a:rPr lang="en-US" altLang="zh-CN" dirty="0">
                <a:solidFill>
                  <a:srgbClr val="00B050"/>
                </a:solidFill>
              </a:rPr>
              <a:t>program  ---&gt;</a:t>
            </a:r>
            <a:endParaRPr lang="zh-CN" alt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├── gesture_model.pkl             </a:t>
            </a:r>
            <a:r>
              <a:rPr lang="zh-CN" altLang="en-US" dirty="0">
                <a:solidFill>
                  <a:srgbClr val="00B050"/>
                </a:solidFill>
              </a:rPr>
              <a:t># Model </a:t>
            </a:r>
            <a:r>
              <a:rPr lang="en-US" altLang="zh-CN" dirty="0">
                <a:solidFill>
                  <a:srgbClr val="00B050"/>
                </a:solidFill>
              </a:rPr>
              <a:t>(output of </a:t>
            </a:r>
            <a:r>
              <a:rPr lang="zh-CN" altLang="en-US" dirty="0">
                <a:solidFill>
                  <a:srgbClr val="00B050"/>
                </a:solidFill>
                <a:highlight>
                  <a:srgbClr val="00FFFF"/>
                </a:highlight>
              </a:rPr>
              <a:t>train_model.py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endParaRPr lang="en-US" altLang="zh-CN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└── </a:t>
            </a:r>
            <a:r>
              <a:rPr lang="en-US" altLang="zh-CN" dirty="0"/>
              <a:t>hand_gesture_data.csv      </a:t>
            </a:r>
            <a:r>
              <a:rPr lang="zh-CN" altLang="en-US" dirty="0">
                <a:solidFill>
                  <a:srgbClr val="00B050"/>
                </a:solidFill>
              </a:rPr>
              <a:t># </a:t>
            </a:r>
            <a:r>
              <a:rPr lang="en-US" altLang="zh-CN" dirty="0">
                <a:solidFill>
                  <a:srgbClr val="00B050"/>
                </a:solidFill>
              </a:rPr>
              <a:t>Data (output of </a:t>
            </a:r>
            <a:r>
              <a:rPr lang="zh-CN" altLang="en-US" dirty="0">
                <a:solidFill>
                  <a:srgbClr val="00B050"/>
                </a:solidFill>
                <a:highlight>
                  <a:srgbClr val="FFFF00"/>
                </a:highlight>
              </a:rPr>
              <a:t>collect_data.py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C2ACE-D8C6-8EE0-2849-F8B95DAF7897}"/>
              </a:ext>
            </a:extLst>
          </p:cNvPr>
          <p:cNvSpPr txBox="1"/>
          <p:nvPr/>
        </p:nvSpPr>
        <p:spPr>
          <a:xfrm>
            <a:off x="95705" y="3732784"/>
            <a:ext cx="9183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Run </a:t>
            </a:r>
            <a:r>
              <a:rPr lang="zh-CN" altLang="en-US" dirty="0">
                <a:highlight>
                  <a:srgbClr val="FFFF00"/>
                </a:highlight>
              </a:rPr>
              <a:t>collect_data.py </a:t>
            </a:r>
            <a:r>
              <a:rPr lang="en-US" altLang="zh-CN" dirty="0"/>
              <a:t>to collect gesture data </a:t>
            </a:r>
            <a:r>
              <a:rPr lang="en-US" altLang="zh-CN" dirty="0">
                <a:solidFill>
                  <a:srgbClr val="00B050"/>
                </a:solidFill>
              </a:rPr>
              <a:t>-&gt;  generates hand_gesture_data.csv</a:t>
            </a:r>
            <a:r>
              <a:rPr lang="en-US" altLang="zh-CN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zh-CN" dirty="0"/>
              <a:t>Run </a:t>
            </a:r>
            <a:r>
              <a:rPr lang="zh-CN" altLang="en-US" dirty="0">
                <a:highlight>
                  <a:srgbClr val="00FFFF"/>
                </a:highlight>
              </a:rPr>
              <a:t>train_model.py</a:t>
            </a:r>
            <a:r>
              <a:rPr lang="zh-CN" altLang="en-US" dirty="0"/>
              <a:t> </a:t>
            </a:r>
            <a:r>
              <a:rPr lang="en-US" altLang="zh-CN" dirty="0"/>
              <a:t>to train model </a:t>
            </a:r>
            <a:r>
              <a:rPr lang="en-US" altLang="zh-CN" dirty="0">
                <a:solidFill>
                  <a:srgbClr val="00B050"/>
                </a:solidFill>
              </a:rPr>
              <a:t>-&gt;  generates </a:t>
            </a:r>
            <a:r>
              <a:rPr lang="zh-CN" altLang="en-US" dirty="0">
                <a:solidFill>
                  <a:srgbClr val="00B050"/>
                </a:solidFill>
              </a:rPr>
              <a:t>gesture_model.pkl </a:t>
            </a:r>
            <a:endParaRPr lang="en-US" altLang="zh-CN" dirty="0">
              <a:solidFill>
                <a:srgbClr val="00B05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Run </a:t>
            </a:r>
            <a:r>
              <a:rPr lang="zh-CN" altLang="en-US" dirty="0">
                <a:highlight>
                  <a:srgbClr val="00FF00"/>
                </a:highlight>
              </a:rPr>
              <a:t>recognize_real_time.py</a:t>
            </a:r>
            <a:r>
              <a:rPr lang="zh-CN" altLang="en-US" dirty="0"/>
              <a:t> </a:t>
            </a:r>
            <a:r>
              <a:rPr lang="en-US" altLang="zh-CN" dirty="0"/>
              <a:t>to recognize gesture in real time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9780E7-F232-5C7C-4F84-91980FC48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1" y="4858756"/>
            <a:ext cx="10775949" cy="189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0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9CF526-72F5-7C7B-911C-9727379BA1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Toy Project: The Starting Point of Our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11A1-F369-50E0-C3D3-012EA3C2270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sz="2400" dirty="0"/>
              <a:t>Environment Setup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C5221-B12C-08C8-5824-F7328BEF32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DD3E5-75FB-4A28-ADDE-FF1C95945E11}"/>
              </a:ext>
            </a:extLst>
          </p:cNvPr>
          <p:cNvSpPr txBox="1"/>
          <p:nvPr/>
        </p:nvSpPr>
        <p:spPr>
          <a:xfrm>
            <a:off x="338318" y="1095433"/>
            <a:ext cx="6464883" cy="2768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4000" dirty="0"/>
              <a:t> Install</a:t>
            </a:r>
            <a:r>
              <a:rPr lang="zh-CN" altLang="en-US" sz="4000" dirty="0"/>
              <a:t> </a:t>
            </a:r>
            <a:r>
              <a:rPr lang="en-US" altLang="zh-CN" sz="4000" dirty="0"/>
              <a:t>python and an IDE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4000" dirty="0"/>
              <a:t> Prepare a camera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4000" dirty="0"/>
              <a:t> Install packages</a:t>
            </a:r>
            <a:endParaRPr lang="zh-CN" alt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60DF2-6000-7188-A962-88281274BA79}"/>
              </a:ext>
            </a:extLst>
          </p:cNvPr>
          <p:cNvSpPr txBox="1"/>
          <p:nvPr/>
        </p:nvSpPr>
        <p:spPr>
          <a:xfrm>
            <a:off x="338321" y="5156539"/>
            <a:ext cx="51936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Our environment for reference(not mandatory):</a:t>
            </a:r>
          </a:p>
          <a:p>
            <a:r>
              <a:rPr lang="en-US" altLang="zh-CN" dirty="0"/>
              <a:t>Python: 3.9</a:t>
            </a:r>
          </a:p>
          <a:p>
            <a:r>
              <a:rPr lang="en-US" altLang="zh-CN" dirty="0"/>
              <a:t>IDE: PyCharm</a:t>
            </a:r>
          </a:p>
          <a:p>
            <a:r>
              <a:rPr lang="en-US" altLang="zh-CN" dirty="0"/>
              <a:t>Operating system: Windows</a:t>
            </a:r>
          </a:p>
          <a:p>
            <a:r>
              <a:rPr lang="en-US" altLang="zh-CN" dirty="0"/>
              <a:t>Package versions: Latest available versions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053A28-4555-B39F-05EA-F22818A3A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74" y="1442067"/>
            <a:ext cx="4679081" cy="446288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414C46-A5C8-4206-1F06-D594FB9B5FB0}"/>
              </a:ext>
            </a:extLst>
          </p:cNvPr>
          <p:cNvSpPr/>
          <p:nvPr/>
        </p:nvSpPr>
        <p:spPr>
          <a:xfrm>
            <a:off x="338317" y="4514317"/>
            <a:ext cx="646488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pip install mediapipe opencv-python scikit-learn numpy pandas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AD39D-E402-5A41-2212-06D237127329}"/>
              </a:ext>
            </a:extLst>
          </p:cNvPr>
          <p:cNvSpPr txBox="1"/>
          <p:nvPr/>
        </p:nvSpPr>
        <p:spPr>
          <a:xfrm>
            <a:off x="338317" y="3952172"/>
            <a:ext cx="6172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git clone </a:t>
            </a:r>
            <a:r>
              <a:rPr lang="zh-CN" altLang="en-US" dirty="0"/>
              <a:t>https://github.com/chloexj/gesture_recognition.git</a:t>
            </a:r>
          </a:p>
        </p:txBody>
      </p:sp>
    </p:spTree>
    <p:extLst>
      <p:ext uri="{BB962C8B-B14F-4D97-AF65-F5344CB8AC3E}">
        <p14:creationId xmlns:p14="http://schemas.microsoft.com/office/powerpoint/2010/main" val="719770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16AED-A5EF-398A-9874-88B2C56B68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990D2-11CD-8A7D-C24D-6FBE80BDA836}"/>
              </a:ext>
            </a:extLst>
          </p:cNvPr>
          <p:cNvSpPr txBox="1"/>
          <p:nvPr/>
        </p:nvSpPr>
        <p:spPr>
          <a:xfrm>
            <a:off x="62593" y="2148215"/>
            <a:ext cx="30948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Run the script, then follow the instructions to press the corresponding keys and make gestures to collect data</a:t>
            </a:r>
            <a:endParaRPr lang="zh-CN" altLang="en-US" sz="2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D9CC781-EBD3-1303-F11D-9FCAA3951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" y="6138945"/>
            <a:ext cx="11307534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Press number keys 0~5, or 'o' and 'g' to set the label. Press 's' to save data, and 'q' to quit.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482B1-0550-5BF7-A3C6-8577026370F5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B14A-2C9F-58BB-EA1D-A9F452E5C7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836714"/>
            <a:ext cx="8841921" cy="480053"/>
          </a:xfrm>
        </p:spPr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US" altLang="zh-CN" dirty="0"/>
              <a:t>How to use</a:t>
            </a:r>
            <a:endParaRPr lang="zh-CN" alt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A3E42D0-E20D-57C1-8804-A3DD93D90C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65100"/>
            <a:ext cx="12192000" cy="565150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collect_data.py </a:t>
            </a:r>
            <a:r>
              <a:rPr lang="en-US" altLang="zh-CN" sz="2000" dirty="0"/>
              <a:t>- how do we collect and process data</a:t>
            </a:r>
            <a:r>
              <a:rPr lang="zh-CN" altLang="en-US" sz="2000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83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D38D-62CF-F4D0-CF63-E7D5278D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2EC006-CCE5-78F2-326A-9774ABEBF5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collect_data.py </a:t>
            </a:r>
            <a:r>
              <a:rPr lang="en-US" altLang="zh-CN" sz="2000" dirty="0"/>
              <a:t>- how do we collect and process data</a:t>
            </a:r>
            <a:r>
              <a:rPr lang="zh-CN" altLang="en-US" sz="2000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080F-337F-987C-E940-810A8534F0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836714"/>
            <a:ext cx="8841921" cy="480053"/>
          </a:xfrm>
        </p:spPr>
        <p:txBody>
          <a:bodyPr/>
          <a:lstStyle/>
          <a:p>
            <a:r>
              <a:rPr lang="en-US" altLang="zh-CN" dirty="0"/>
              <a:t>1.2 Import library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3D2EB-15CE-42CC-E90D-F75F9F1FED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81BDA-346F-CF94-BFDE-FD6175C65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22" y="1436983"/>
            <a:ext cx="10958457" cy="5191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9FAFFD-D044-0467-8D39-2F3899B65941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624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004ADA-0A06-1596-D6F0-8E8AF07A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0BC62E-9CEE-70CE-951B-F2F6F2CD63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collect_data.py </a:t>
            </a:r>
            <a:r>
              <a:rPr lang="en-US" altLang="zh-CN" sz="2000" dirty="0"/>
              <a:t>- how do we collect and process data</a:t>
            </a:r>
            <a:r>
              <a:rPr lang="zh-CN" altLang="en-US" sz="2000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E44A-5538-93CA-B8D4-BCC7C9D602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836714"/>
            <a:ext cx="8841921" cy="480053"/>
          </a:xfrm>
        </p:spPr>
        <p:txBody>
          <a:bodyPr/>
          <a:lstStyle/>
          <a:p>
            <a:r>
              <a:rPr lang="en-US" altLang="zh-CN" dirty="0"/>
              <a:t>1.2.2 Main loop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518FB-31AC-190F-065E-47A31421DB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F0CE25-29D0-E201-8987-6FAA1509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5" y="1597904"/>
            <a:ext cx="11617749" cy="4627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58DF1-27AE-42DC-9D29-34B4DDFE56A2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55115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5DAC92-85EC-8458-9900-730F9A31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AF19AE-3529-302B-68F3-9E18D1C396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collect_data.py </a:t>
            </a:r>
            <a:r>
              <a:rPr lang="en-US" altLang="zh-CN" sz="2000" dirty="0"/>
              <a:t>- how do we collect and process data</a:t>
            </a:r>
            <a:r>
              <a:rPr lang="zh-CN" altLang="en-US" sz="2000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E586-A206-2A51-3BB3-134F63AD58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836714"/>
            <a:ext cx="8841921" cy="480053"/>
          </a:xfrm>
        </p:spPr>
        <p:txBody>
          <a:bodyPr/>
          <a:lstStyle/>
          <a:p>
            <a:r>
              <a:rPr lang="en-US" altLang="zh-CN" dirty="0"/>
              <a:t>1.2.3 Keyboard controls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FE1C4-45D8-8B33-7160-1F24A9E917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7F4ED-4DA8-6ADF-E308-718AFE90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88"/>
          <a:stretch/>
        </p:blipFill>
        <p:spPr>
          <a:xfrm>
            <a:off x="476336" y="1316767"/>
            <a:ext cx="10807868" cy="5452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2D84AE-0AFC-29C7-7AB3-C9DDB8A3F224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029744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A5C1B5-534D-40A5-EE48-8A03CD97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2EE7D5-616E-6AB1-9B3A-47B80EE86E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collect_data.py </a:t>
            </a:r>
            <a:r>
              <a:rPr lang="en-US" altLang="zh-CN" sz="2000" dirty="0"/>
              <a:t>- how do we collect and process data</a:t>
            </a:r>
            <a:r>
              <a:rPr lang="zh-CN" altLang="en-US" sz="2000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DFA86-6F1E-036C-5BCA-78AB41E1D5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836714"/>
            <a:ext cx="8841921" cy="480053"/>
          </a:xfrm>
        </p:spPr>
        <p:txBody>
          <a:bodyPr/>
          <a:lstStyle/>
          <a:p>
            <a:r>
              <a:rPr lang="en-US" altLang="zh-CN" dirty="0"/>
              <a:t>1.2.4 Save Data to CSV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6EEA0-9D87-DA9B-A7FD-AEF5F943DC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1C280-E793-5B24-46A5-82F94256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32" y="1386796"/>
            <a:ext cx="8814961" cy="5297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DEB65A-C1A5-F1FB-30B6-FCB266008167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58464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4862-2D21-050F-AA08-C6696D42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CEC92-E453-80CD-38D0-15116C732F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collect_data.py </a:t>
            </a:r>
            <a:r>
              <a:rPr lang="en-US" altLang="zh-CN" sz="2000" dirty="0"/>
              <a:t>- how do we collect and process data</a:t>
            </a:r>
            <a:r>
              <a:rPr lang="zh-CN" altLang="en-US" sz="2000" dirty="0"/>
              <a:t>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4951E-6FDB-2FC3-F6DB-50A6EADF40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836714"/>
            <a:ext cx="8841921" cy="480053"/>
          </a:xfrm>
        </p:spPr>
        <p:txBody>
          <a:bodyPr/>
          <a:lstStyle/>
          <a:p>
            <a:r>
              <a:rPr lang="en-US" altLang="zh-CN" dirty="0"/>
              <a:t>1.3 Data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6F251-BD3D-DD3A-7A1C-3917A1332F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1C554-5AF9-A5DB-45BB-F625F68F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101" y="836714"/>
            <a:ext cx="10063699" cy="5269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8BCE53-308E-A41C-6620-DD973CC36B2D}"/>
              </a:ext>
            </a:extLst>
          </p:cNvPr>
          <p:cNvSpPr txBox="1"/>
          <p:nvPr/>
        </p:nvSpPr>
        <p:spPr>
          <a:xfrm>
            <a:off x="2359477" y="6213918"/>
            <a:ext cx="648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3*21 (21 landmarks per hand frame) +1(label)  = 64 columns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5353-0E2E-80D2-1F34-F2CABE9241B7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976264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BFD472-EB5A-3F0E-F86F-F248111ABA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train_model.py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06EB-9BF3-2264-FF92-D1B4115467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9087439" cy="480053"/>
          </a:xfrm>
        </p:spPr>
        <p:txBody>
          <a:bodyPr/>
          <a:lstStyle/>
          <a:p>
            <a:r>
              <a:rPr lang="en-US" altLang="zh-CN" dirty="0"/>
              <a:t>2.1 Load data, check class distribution, Split the dataset 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6F7B2-7D34-9166-99EA-45DD20D60F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DD74FF-F4E8-5DEB-DEC5-737C4E626BFD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AD60A9-2F78-4BED-078B-A4BEE5293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05" y="1532472"/>
            <a:ext cx="9807790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1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6A1F-5A11-25FF-884E-8F55BB1D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1926F7-EBDE-84FC-5EA1-BB3318B09D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train_model.py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6178-E38B-239B-DFEF-F64126AD5E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10597662" cy="480053"/>
          </a:xfrm>
        </p:spPr>
        <p:txBody>
          <a:bodyPr/>
          <a:lstStyle/>
          <a:p>
            <a:r>
              <a:rPr lang="en-US" altLang="zh-CN" dirty="0"/>
              <a:t>2.2 Train using </a:t>
            </a:r>
            <a:r>
              <a:rPr lang="zh-CN" altLang="en-US" dirty="0"/>
              <a:t>①</a:t>
            </a:r>
            <a:r>
              <a:rPr lang="en-US" altLang="zh-CN" dirty="0"/>
              <a:t>K-Nearest Neighbors, </a:t>
            </a:r>
            <a:r>
              <a:rPr lang="zh-CN" altLang="en-US" dirty="0"/>
              <a:t>②</a:t>
            </a:r>
            <a:r>
              <a:rPr lang="en-US" altLang="zh-CN" dirty="0"/>
              <a:t>Random Forest, </a:t>
            </a:r>
            <a:r>
              <a:rPr lang="zh-CN" altLang="en-US" dirty="0"/>
              <a:t>③ </a:t>
            </a:r>
            <a:r>
              <a:rPr lang="en-US" altLang="zh-CN" dirty="0"/>
              <a:t>SVM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C0BA9-52ED-6DDB-2FAE-B3166A19DF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7BE9F-1032-B362-8FE1-A8E22B30A8E1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DD451E-3892-4427-A3EC-73029A60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62" y="1359584"/>
            <a:ext cx="10307464" cy="499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66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DC63-FE5B-0BF6-E2A5-5550A3A3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C61352-0667-72DC-2E84-A84F6D3877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train_model.py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A672E-8A0A-2F9F-BDFB-67E45649B1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10597662" cy="480053"/>
          </a:xfrm>
        </p:spPr>
        <p:txBody>
          <a:bodyPr/>
          <a:lstStyle/>
          <a:p>
            <a:r>
              <a:rPr lang="en-US" altLang="zh-CN" dirty="0"/>
              <a:t>2.3 Train using </a:t>
            </a:r>
            <a:r>
              <a:rPr lang="zh-CN" altLang="en-US" dirty="0"/>
              <a:t>④</a:t>
            </a:r>
            <a:r>
              <a:rPr lang="en-US" altLang="zh-CN" dirty="0"/>
              <a:t>MLP and save model 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3028-56F0-C124-1E5D-392F1897EE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C4E53-3C24-7CB5-D5EE-081F42EECCF2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AA951D-D71B-10DC-83F9-D41B84D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48" y="1424022"/>
            <a:ext cx="10276996" cy="477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0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A249E-BBD4-14D3-86C1-D37FC21E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4D5C6DF-3196-56DE-3769-2C5F37E4E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86" y="5198607"/>
            <a:ext cx="3802652" cy="151721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C73EC3-3078-5EE7-37BA-1360581C54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train_model.py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F63D-F14A-D75A-1C54-0EEDE9F234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10597662" cy="480053"/>
          </a:xfrm>
        </p:spPr>
        <p:txBody>
          <a:bodyPr/>
          <a:lstStyle/>
          <a:p>
            <a:r>
              <a:rPr lang="en-US" altLang="zh-CN" dirty="0"/>
              <a:t>2.4 Output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69CA3-3EC2-BF45-EC13-E05E0646EE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DB2F6-1217-10ED-681E-F05C35BDC84F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B9638E-D452-F42D-3862-4EE155944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883" y="900783"/>
            <a:ext cx="1799136" cy="2041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6D4FA4-5ABD-C5AB-42E4-D0B9D9FC3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304" y="836714"/>
            <a:ext cx="3437250" cy="26840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B5B181-406E-D9A1-EA91-FBF26AA49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992" y="856771"/>
            <a:ext cx="3409050" cy="28289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CBFD3E-E078-2447-4A5E-927E4ED76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886" y="3685684"/>
            <a:ext cx="3608085" cy="28814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867794-6FB9-4D60-C4F3-E9643EB343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587"/>
          <a:stretch>
            <a:fillRect/>
          </a:stretch>
        </p:blipFill>
        <p:spPr>
          <a:xfrm>
            <a:off x="8502992" y="3789906"/>
            <a:ext cx="3324678" cy="26645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8BF2910-54E6-411E-9D5C-5F1F7FC8E568}"/>
              </a:ext>
            </a:extLst>
          </p:cNvPr>
          <p:cNvSpPr txBox="1"/>
          <p:nvPr/>
        </p:nvSpPr>
        <p:spPr>
          <a:xfrm>
            <a:off x="4248920" y="729459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027C03-4584-8ABD-60A7-420549B40F12}"/>
              </a:ext>
            </a:extLst>
          </p:cNvPr>
          <p:cNvSpPr txBox="1"/>
          <p:nvPr/>
        </p:nvSpPr>
        <p:spPr>
          <a:xfrm>
            <a:off x="8104554" y="771122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31DC83-23F5-3C4C-831E-43085074CB1A}"/>
              </a:ext>
            </a:extLst>
          </p:cNvPr>
          <p:cNvSpPr txBox="1"/>
          <p:nvPr/>
        </p:nvSpPr>
        <p:spPr>
          <a:xfrm>
            <a:off x="4175996" y="3685684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911463-0CF2-BB60-E200-CB1CC4E443D4}"/>
              </a:ext>
            </a:extLst>
          </p:cNvPr>
          <p:cNvSpPr txBox="1"/>
          <p:nvPr/>
        </p:nvSpPr>
        <p:spPr>
          <a:xfrm>
            <a:off x="8106786" y="3700949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④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EA5D33-3983-E526-A490-BC57BCB62169}"/>
              </a:ext>
            </a:extLst>
          </p:cNvPr>
          <p:cNvSpPr/>
          <p:nvPr/>
        </p:nvSpPr>
        <p:spPr>
          <a:xfrm>
            <a:off x="5752383" y="905560"/>
            <a:ext cx="554893" cy="11715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6F3A00-8181-E7D8-36DF-5C9435011BE2}"/>
              </a:ext>
            </a:extLst>
          </p:cNvPr>
          <p:cNvSpPr/>
          <p:nvPr/>
        </p:nvSpPr>
        <p:spPr>
          <a:xfrm>
            <a:off x="10179278" y="970638"/>
            <a:ext cx="480261" cy="11715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DE5F7B-12C5-F319-E5CB-84EC23DFA37A}"/>
              </a:ext>
            </a:extLst>
          </p:cNvPr>
          <p:cNvSpPr/>
          <p:nvPr/>
        </p:nvSpPr>
        <p:spPr>
          <a:xfrm>
            <a:off x="9512287" y="3811770"/>
            <a:ext cx="480261" cy="11715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56722D-4323-37AE-636B-83FB5D642CDD}"/>
              </a:ext>
            </a:extLst>
          </p:cNvPr>
          <p:cNvSpPr/>
          <p:nvPr/>
        </p:nvSpPr>
        <p:spPr>
          <a:xfrm>
            <a:off x="5671784" y="3753190"/>
            <a:ext cx="480261" cy="11715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Explosion: 8 Points 25">
            <a:extLst>
              <a:ext uri="{FF2B5EF4-FFF2-40B4-BE49-F238E27FC236}">
                <a16:creationId xmlns:a16="http://schemas.microsoft.com/office/drawing/2014/main" id="{B3D8CF5D-19F1-FDDD-3501-76F55C66D980}"/>
              </a:ext>
            </a:extLst>
          </p:cNvPr>
          <p:cNvSpPr/>
          <p:nvPr/>
        </p:nvSpPr>
        <p:spPr>
          <a:xfrm>
            <a:off x="8108171" y="4235207"/>
            <a:ext cx="1016551" cy="680695"/>
          </a:xfrm>
          <a:prstGeom prst="irregularSeal1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WIN</a:t>
            </a:r>
            <a:endParaRPr lang="zh-CN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3FB246-3AC6-2626-5308-93AADD15D09E}"/>
              </a:ext>
            </a:extLst>
          </p:cNvPr>
          <p:cNvSpPr txBox="1"/>
          <p:nvPr/>
        </p:nvSpPr>
        <p:spPr>
          <a:xfrm>
            <a:off x="288480" y="3002982"/>
            <a:ext cx="38750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We tried training the data using four different models: </a:t>
            </a:r>
            <a:r>
              <a:rPr lang="zh-CN" altLang="en-US" dirty="0"/>
              <a:t>①</a:t>
            </a:r>
            <a:r>
              <a:rPr lang="en-US" altLang="zh-CN" dirty="0"/>
              <a:t>KNN, </a:t>
            </a:r>
            <a:r>
              <a:rPr lang="zh-CN" altLang="en-US" dirty="0"/>
              <a:t>②</a:t>
            </a:r>
            <a:r>
              <a:rPr lang="en-US" altLang="zh-CN" dirty="0"/>
              <a:t>Random Forest, </a:t>
            </a:r>
            <a:r>
              <a:rPr lang="zh-CN" altLang="en-US" dirty="0"/>
              <a:t>③</a:t>
            </a:r>
            <a:r>
              <a:rPr lang="en-US" altLang="zh-CN" dirty="0"/>
              <a:t>SVM, and </a:t>
            </a:r>
            <a:r>
              <a:rPr lang="zh-CN" altLang="en-US" dirty="0"/>
              <a:t>④</a:t>
            </a:r>
            <a:r>
              <a:rPr lang="en-US" altLang="zh-CN" dirty="0"/>
              <a:t>MLP. In the end, MLP won by a narrow margin.</a:t>
            </a:r>
          </a:p>
          <a:p>
            <a:endParaRPr lang="en-US" altLang="zh-CN" dirty="0"/>
          </a:p>
          <a:p>
            <a:r>
              <a:rPr lang="en-US" altLang="zh-CN" dirty="0"/>
              <a:t>Multi-Layer Perceptron, a type of feedforward neural network.</a:t>
            </a:r>
          </a:p>
          <a:p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AC2D1-A7E3-9D0B-D13E-226468F88682}"/>
              </a:ext>
            </a:extLst>
          </p:cNvPr>
          <p:cNvSpPr txBox="1"/>
          <p:nvPr/>
        </p:nvSpPr>
        <p:spPr>
          <a:xfrm>
            <a:off x="420351" y="5651954"/>
            <a:ext cx="100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1.24MB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ED617-E978-C670-0889-E06D68A93D0A}"/>
              </a:ext>
            </a:extLst>
          </p:cNvPr>
          <p:cNvSpPr txBox="1"/>
          <p:nvPr/>
        </p:nvSpPr>
        <p:spPr>
          <a:xfrm>
            <a:off x="1751051" y="5651954"/>
            <a:ext cx="100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383KB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9F44E-280C-1EF2-5930-B11D7C11B898}"/>
              </a:ext>
            </a:extLst>
          </p:cNvPr>
          <p:cNvSpPr txBox="1"/>
          <p:nvPr/>
        </p:nvSpPr>
        <p:spPr>
          <a:xfrm>
            <a:off x="3020822" y="5651954"/>
            <a:ext cx="100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4.92MB</a:t>
            </a:r>
            <a:endParaRPr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2A95CA-37D1-8B4F-3C3A-30E9BC4C7172}"/>
              </a:ext>
            </a:extLst>
          </p:cNvPr>
          <p:cNvSpPr txBox="1"/>
          <p:nvPr/>
        </p:nvSpPr>
        <p:spPr>
          <a:xfrm>
            <a:off x="288480" y="5198607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32BCB7-DF63-15F1-3C7B-A0E3E9A00450}"/>
              </a:ext>
            </a:extLst>
          </p:cNvPr>
          <p:cNvSpPr txBox="1"/>
          <p:nvPr/>
        </p:nvSpPr>
        <p:spPr>
          <a:xfrm>
            <a:off x="2888259" y="5137942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34192-25D7-0F6B-4582-AB441F0882A1}"/>
              </a:ext>
            </a:extLst>
          </p:cNvPr>
          <p:cNvSpPr txBox="1"/>
          <p:nvPr/>
        </p:nvSpPr>
        <p:spPr>
          <a:xfrm>
            <a:off x="1664664" y="5171003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④</a:t>
            </a:r>
          </a:p>
        </p:txBody>
      </p:sp>
      <p:sp>
        <p:nvSpPr>
          <p:cNvPr id="32" name="Explosion: 8 Points 31">
            <a:extLst>
              <a:ext uri="{FF2B5EF4-FFF2-40B4-BE49-F238E27FC236}">
                <a16:creationId xmlns:a16="http://schemas.microsoft.com/office/drawing/2014/main" id="{CA7E67B9-88FB-1EFC-D550-CB6E0CA3028B}"/>
              </a:ext>
            </a:extLst>
          </p:cNvPr>
          <p:cNvSpPr/>
          <p:nvPr/>
        </p:nvSpPr>
        <p:spPr>
          <a:xfrm>
            <a:off x="2197883" y="5855366"/>
            <a:ext cx="690376" cy="476382"/>
          </a:xfrm>
          <a:prstGeom prst="irregularSeal1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/>
              <a:t>WIN</a:t>
            </a:r>
            <a:endParaRPr lang="zh-CN" altLang="en-US" sz="700" b="1" dirty="0"/>
          </a:p>
        </p:txBody>
      </p:sp>
    </p:spTree>
    <p:extLst>
      <p:ext uri="{BB962C8B-B14F-4D97-AF65-F5344CB8AC3E}">
        <p14:creationId xmlns:p14="http://schemas.microsoft.com/office/powerpoint/2010/main" val="151543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07F6AC-C34A-29B4-B4B7-79E98582E1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recognize_real_time.py </a:t>
            </a:r>
          </a:p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63B93-C0E4-BFE4-AC42-215AC86DE33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3.1 Initialization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C5295-5B01-10C0-07AB-B6227050B9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4CA74-A7A0-EBCE-19AE-6F970A098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64" y="1424021"/>
            <a:ext cx="11510671" cy="44960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814254-ED19-425E-BCED-14B1797D4A9E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86668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EAC1-898B-D7FA-6FE9-BB7236B95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D5EE0F-E318-B81F-9B51-B07BD09C50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recognize_real_time.py </a:t>
            </a:r>
          </a:p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704D7-29C6-50F9-9D90-5544C79D1EA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3.2 Capture and process data to predict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90289-6A83-11CA-CB41-78D2D18C04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66AD52-EE14-C395-EFD6-64C26B4B8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3" y="1316767"/>
            <a:ext cx="11926334" cy="49077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176CE-05D0-FA64-0EB9-C3D526C70244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76794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1E63-4AC5-1D23-1AE7-BF387FA0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D5992B-1A76-E886-63C2-F6D8027526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76E0D-F925-539A-73B1-9B5D77F51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7125"/>
            <a:ext cx="5558041" cy="6523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EF99A8-4865-478D-9772-573E66C28B1C}"/>
              </a:ext>
            </a:extLst>
          </p:cNvPr>
          <p:cNvSpPr/>
          <p:nvPr/>
        </p:nvSpPr>
        <p:spPr>
          <a:xfrm>
            <a:off x="7569724" y="3874416"/>
            <a:ext cx="1018095" cy="273378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68C9849-89C2-A589-7F41-B02CD62DDD23}"/>
              </a:ext>
            </a:extLst>
          </p:cNvPr>
          <p:cNvGrpSpPr/>
          <p:nvPr/>
        </p:nvGrpSpPr>
        <p:grpSpPr>
          <a:xfrm>
            <a:off x="7128580" y="5446044"/>
            <a:ext cx="1547335" cy="1144778"/>
            <a:chOff x="7016612" y="5416420"/>
            <a:chExt cx="1547335" cy="114477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A193067-1431-4D66-2DC5-A8901E520F0E}"/>
                </a:ext>
              </a:extLst>
            </p:cNvPr>
            <p:cNvSpPr txBox="1"/>
            <p:nvPr/>
          </p:nvSpPr>
          <p:spPr>
            <a:xfrm>
              <a:off x="7016612" y="6171685"/>
              <a:ext cx="947931" cy="389513"/>
            </a:xfrm>
            <a:prstGeom prst="flowChartTerminator">
              <a:avLst/>
            </a:prstGeom>
            <a:solidFill>
              <a:srgbClr val="00B05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Agentic AI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9639D31-2D22-5D9E-81AE-6854BB5267C6}"/>
                </a:ext>
              </a:extLst>
            </p:cNvPr>
            <p:cNvSpPr/>
            <p:nvPr/>
          </p:nvSpPr>
          <p:spPr>
            <a:xfrm>
              <a:off x="8302690" y="5416420"/>
              <a:ext cx="261257" cy="289249"/>
            </a:xfrm>
            <a:prstGeom prst="ellipse">
              <a:avLst/>
            </a:prstGeom>
            <a:noFill/>
            <a:ln w="28575" cap="flat" cmpd="sng" algn="ctr">
              <a:solidFill>
                <a:schemeClr val="accent6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连接符: 肘形 7">
              <a:extLst>
                <a:ext uri="{FF2B5EF4-FFF2-40B4-BE49-F238E27FC236}">
                  <a16:creationId xmlns:a16="http://schemas.microsoft.com/office/drawing/2014/main" id="{91D5BE04-C17C-E932-6C5E-91FB19D6FBB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430704" y="5551714"/>
              <a:ext cx="980900" cy="619970"/>
            </a:xfrm>
            <a:prstGeom prst="bentConnector2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C1F724D-A349-D60B-2D26-65B6D71331AE}"/>
              </a:ext>
            </a:extLst>
          </p:cNvPr>
          <p:cNvSpPr txBox="1"/>
          <p:nvPr/>
        </p:nvSpPr>
        <p:spPr>
          <a:xfrm>
            <a:off x="666933" y="1530167"/>
            <a:ext cx="4725689" cy="448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400" dirty="0"/>
              <a:t>A Toy Project: The Starting Point of Our Story</a:t>
            </a:r>
          </a:p>
          <a:p>
            <a:pPr>
              <a:lnSpc>
                <a:spcPct val="150000"/>
              </a:lnSpc>
            </a:pPr>
            <a:r>
              <a:rPr lang="en-US" altLang="zh-CN" i="1" dirty="0"/>
              <a:t>Real-Time Hand Gesture Recognition , Cat or Dog Classification</a:t>
            </a:r>
          </a:p>
          <a:p>
            <a:pPr>
              <a:lnSpc>
                <a:spcPct val="150000"/>
              </a:lnSpc>
            </a:pPr>
            <a:endParaRPr lang="en-US" altLang="zh-CN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highlight>
                  <a:srgbClr val="FFFF00"/>
                </a:highlight>
              </a:rPr>
              <a:t>2. How It Works — The Underlying Mechanism of Neural Networks</a:t>
            </a:r>
          </a:p>
          <a:p>
            <a:pPr>
              <a:lnSpc>
                <a:spcPct val="150000"/>
              </a:lnSpc>
            </a:pPr>
            <a:r>
              <a:rPr lang="en-US" altLang="zh-CN" i="1" dirty="0"/>
              <a:t>Multilayer Perceptron and Convolutional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67878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8FADAF-D40F-C973-5A57-3A9C859039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6FB8-E310-1BE0-98DA-64BBDD5446C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en-US" altLang="zh-CN" dirty="0" err="1"/>
              <a:t>MediaPipe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0CEFC-F3B6-5B84-A5F5-E1B5D09D3B0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FD409-3512-4607-F090-76FF821CCCDE}"/>
              </a:ext>
            </a:extLst>
          </p:cNvPr>
          <p:cNvSpPr txBox="1"/>
          <p:nvPr/>
        </p:nvSpPr>
        <p:spPr>
          <a:xfrm>
            <a:off x="291768" y="2137707"/>
            <a:ext cx="65792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 err="1"/>
              <a:t>MediaPipe</a:t>
            </a:r>
            <a:r>
              <a:rPr lang="en-US" altLang="zh-CN" dirty="0"/>
              <a:t> is an open-source, cross-platform framework developed by Google. It enables real-time processing of key points such as faces, hand gestures, poses, and objects in videos or images, making it ideal for computer vision applications.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Extension:  We can even use it for more advanced applications, like recognizing facial expressions, identifying faces, or detecting actions.</a:t>
            </a:r>
          </a:p>
          <a:p>
            <a:endParaRPr lang="en-US" altLang="zh-CN" dirty="0"/>
          </a:p>
          <a:p>
            <a:r>
              <a:rPr lang="en-US" altLang="zh-CN" sz="2800" b="1" dirty="0"/>
              <a:t>But what is the underlying mechanism behind </a:t>
            </a:r>
            <a:r>
              <a:rPr lang="en-US" altLang="zh-CN" sz="2800" b="1" dirty="0" err="1"/>
              <a:t>MediaPipe</a:t>
            </a:r>
            <a:r>
              <a:rPr lang="en-US" altLang="zh-CN" sz="2800" b="1" dirty="0"/>
              <a:t>?</a:t>
            </a:r>
          </a:p>
          <a:p>
            <a:endParaRPr lang="en-US" altLang="zh-CN" sz="2400" b="1" dirty="0"/>
          </a:p>
          <a:p>
            <a:r>
              <a:rPr lang="en-US" altLang="zh-CN" sz="2000" dirty="0"/>
              <a:t>Can we build our own hand detection model from scratch?</a:t>
            </a:r>
          </a:p>
        </p:txBody>
      </p:sp>
      <p:pic>
        <p:nvPicPr>
          <p:cNvPr id="2050" name="Picture 2" descr="Uploaded image">
            <a:extLst>
              <a:ext uri="{FF2B5EF4-FFF2-40B4-BE49-F238E27FC236}">
                <a16:creationId xmlns:a16="http://schemas.microsoft.com/office/drawing/2014/main" id="{A7928DF0-1105-3018-7A86-E03E5651F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945" y="1166921"/>
            <a:ext cx="4735762" cy="470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C0F825-0C7C-1084-7AEB-2FC8B2719B6C}"/>
              </a:ext>
            </a:extLst>
          </p:cNvPr>
          <p:cNvSpPr txBox="1"/>
          <p:nvPr/>
        </p:nvSpPr>
        <p:spPr>
          <a:xfrm>
            <a:off x="6875945" y="4406639"/>
            <a:ext cx="4735762" cy="175432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These two kids in the picture perfectly illustrate the two states of a programmer: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The kid on the left: the program doesn’t run.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The kid on the right: the program runs — but judging by his expression, he has no idea why it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DEFDF-211C-8BED-B33A-2642EB963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167" y="841729"/>
            <a:ext cx="3577632" cy="475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DF150-4EA3-25AE-D6BF-1C6D908F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636" y="1385652"/>
            <a:ext cx="3971364" cy="53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92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BB99-177C-D066-4EDF-71B917DD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FB60C-B7B2-D7E1-764E-BEE59B8F35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8377-A80E-BBFA-EABB-9B5A569F970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en-US" altLang="zh-CN" sz="2400" dirty="0"/>
              <a:t>Deep learning and CNN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4F1C3-7D98-4366-4DC6-DBBDE1F61F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33DA9-DB00-EEFC-2E2F-29C9C292D8A4}"/>
              </a:ext>
            </a:extLst>
          </p:cNvPr>
          <p:cNvSpPr txBox="1"/>
          <p:nvPr/>
        </p:nvSpPr>
        <p:spPr>
          <a:xfrm>
            <a:off x="433070" y="1424022"/>
            <a:ext cx="606473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MediaPipe</a:t>
            </a:r>
            <a:r>
              <a:rPr lang="en-US" altLang="zh-CN" sz="2400" dirty="0"/>
              <a:t> is a system developed based on </a:t>
            </a:r>
            <a:r>
              <a:rPr lang="en-US" altLang="zh-CN" sz="2400" dirty="0">
                <a:highlight>
                  <a:srgbClr val="FFFF00"/>
                </a:highlight>
              </a:rPr>
              <a:t>deep learning</a:t>
            </a:r>
            <a:r>
              <a:rPr lang="en-US" altLang="zh-CN" sz="2400" dirty="0"/>
              <a:t>, particularly using </a:t>
            </a:r>
            <a:r>
              <a:rPr lang="en-US" altLang="zh-CN" sz="2400" dirty="0">
                <a:highlight>
                  <a:srgbClr val="FFFF00"/>
                </a:highlight>
              </a:rPr>
              <a:t>CNN (Convolutional Neural Network) </a:t>
            </a:r>
            <a:r>
              <a:rPr lang="en-US" altLang="zh-CN" sz="2400" dirty="0"/>
              <a:t>architectures.</a:t>
            </a:r>
          </a:p>
          <a:p>
            <a:br>
              <a:rPr lang="en-US" altLang="zh-CN" sz="2400" dirty="0"/>
            </a:br>
            <a:r>
              <a:rPr lang="en-US" altLang="zh-CN" sz="2400" dirty="0"/>
              <a:t>It uses </a:t>
            </a:r>
            <a:r>
              <a:rPr lang="en-US" altLang="zh-CN" sz="2400" dirty="0">
                <a:highlight>
                  <a:srgbClr val="FFFF00"/>
                </a:highlight>
              </a:rPr>
              <a:t>pretrained models </a:t>
            </a:r>
            <a:r>
              <a:rPr lang="en-US" altLang="zh-CN" sz="2400" dirty="0"/>
              <a:t>(mostly trained by Google) internally to perform </a:t>
            </a:r>
            <a:r>
              <a:rPr lang="en-US" altLang="zh-CN" sz="2400" dirty="0" err="1"/>
              <a:t>keypoint</a:t>
            </a:r>
            <a:r>
              <a:rPr lang="en-US" altLang="zh-CN" sz="2400" dirty="0"/>
              <a:t> detection tasks.</a:t>
            </a:r>
          </a:p>
          <a:p>
            <a:endParaRPr lang="en-US" altLang="zh-CN" sz="2400" dirty="0"/>
          </a:p>
          <a:p>
            <a:r>
              <a:rPr lang="en-US" altLang="zh-CN" sz="2800" b="1" dirty="0"/>
              <a:t>Then,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What is Deep learning? What is CNN?</a:t>
            </a:r>
            <a:endParaRPr lang="zh-CN" alt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32BCD-5376-2E9F-3EA4-B4E6E8898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509" y="1860553"/>
            <a:ext cx="4871421" cy="3512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F3BE64-D16C-39FF-9E5A-4C0EA136D024}"/>
              </a:ext>
            </a:extLst>
          </p:cNvPr>
          <p:cNvSpPr txBox="1"/>
          <p:nvPr/>
        </p:nvSpPr>
        <p:spPr>
          <a:xfrm>
            <a:off x="1174497" y="5996569"/>
            <a:ext cx="4581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Deep Learning ⊂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183706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CE4F69-7E9D-3450-DF6D-A745E0618F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Underlying Mechanism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1B06FC-FB89-2F66-DF9E-A60E435B0C4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3. What is a</a:t>
            </a:r>
            <a:r>
              <a:rPr lang="zh-CN" altLang="en-US" dirty="0"/>
              <a:t> </a:t>
            </a:r>
            <a:r>
              <a:rPr lang="en-US" altLang="zh-CN" dirty="0"/>
              <a:t>model?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F6BE89-C28E-06E9-D7BC-8CDAE982DB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E62DA0-E9AA-D4D0-BB08-5152B02D800C}"/>
              </a:ext>
            </a:extLst>
          </p:cNvPr>
          <p:cNvSpPr txBox="1"/>
          <p:nvPr/>
        </p:nvSpPr>
        <p:spPr>
          <a:xfrm>
            <a:off x="191124" y="2547816"/>
            <a:ext cx="27608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The goal is to learn a mathematical function from data: input X, predict y.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B24723-ECFE-8263-3031-53C6E7456442}"/>
              </a:ext>
            </a:extLst>
          </p:cNvPr>
          <p:cNvSpPr txBox="1"/>
          <p:nvPr/>
        </p:nvSpPr>
        <p:spPr>
          <a:xfrm>
            <a:off x="4236098" y="1330144"/>
            <a:ext cx="82918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Classification — Predict which category an input belongs to</a:t>
            </a:r>
            <a:endParaRPr lang="en-US" altLang="zh-CN" dirty="0"/>
          </a:p>
          <a:p>
            <a:r>
              <a:rPr lang="en-US" altLang="zh-CN" dirty="0"/>
              <a:t>Example: Will a client pay their credit card bill on time or pay late?</a:t>
            </a:r>
          </a:p>
          <a:p>
            <a:r>
              <a:rPr lang="en-US" altLang="zh-CN" b="1" dirty="0"/>
              <a:t>X — Client information:</a:t>
            </a:r>
            <a:r>
              <a:rPr lang="en-US" altLang="zh-CN" dirty="0"/>
              <a:t> income, age, and other features</a:t>
            </a:r>
            <a:br>
              <a:rPr lang="en-US" altLang="zh-CN" dirty="0"/>
            </a:br>
            <a:r>
              <a:rPr lang="en-US" altLang="zh-CN" b="1" dirty="0"/>
              <a:t>y — Actual outcome:</a:t>
            </a:r>
            <a:r>
              <a:rPr lang="en-US" altLang="zh-CN" dirty="0"/>
              <a:t> on-time or late payment</a:t>
            </a:r>
            <a:br>
              <a:rPr lang="en-US" altLang="zh-CN" dirty="0"/>
            </a:br>
            <a:r>
              <a:rPr lang="en-US" altLang="zh-CN" b="1" dirty="0"/>
              <a:t>ŷ = f(X) — Our prediction</a:t>
            </a:r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50E803-998D-8DDF-8BAA-FECA5210AA8F}"/>
              </a:ext>
            </a:extLst>
          </p:cNvPr>
          <p:cNvSpPr txBox="1"/>
          <p:nvPr/>
        </p:nvSpPr>
        <p:spPr>
          <a:xfrm>
            <a:off x="3063146" y="6192492"/>
            <a:ext cx="8516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Each red dot represents a person who will be late on their credit card payment.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D82A297-5D90-614D-87E9-BB1F033E8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989" y="2946472"/>
            <a:ext cx="4186336" cy="32460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1E8B86-0503-104E-F0E2-A9C7B464B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538" y="2820848"/>
            <a:ext cx="4463620" cy="33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8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F39459-7287-7DF9-9988-3FDD227017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EBD1-171F-4107-29A8-6A629FB426B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sz="2400" dirty="0"/>
              <a:t>Neural Network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61056-9051-8F10-2FCA-DDAB82692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B3C4A-1106-14EF-61DB-A4A9CFA06598}"/>
              </a:ext>
            </a:extLst>
          </p:cNvPr>
          <p:cNvSpPr txBox="1"/>
          <p:nvPr/>
        </p:nvSpPr>
        <p:spPr>
          <a:xfrm>
            <a:off x="503119" y="2750988"/>
            <a:ext cx="571890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Deep learning is an artificial intelligence method that uses </a:t>
            </a:r>
            <a:r>
              <a:rPr lang="en-US" altLang="zh-CN" dirty="0">
                <a:highlight>
                  <a:srgbClr val="FFFF00"/>
                </a:highlight>
              </a:rPr>
              <a:t>multi-layer</a:t>
            </a:r>
            <a:r>
              <a:rPr lang="en-US" altLang="zh-CN" dirty="0"/>
              <a:t> neural networks to </a:t>
            </a:r>
            <a:r>
              <a:rPr lang="en-US" altLang="zh-CN" dirty="0">
                <a:highlight>
                  <a:srgbClr val="FFFF00"/>
                </a:highlight>
              </a:rPr>
              <a:t>automatically extract features</a:t>
            </a:r>
            <a:r>
              <a:rPr lang="en-US" altLang="zh-CN" dirty="0"/>
              <a:t> from data and make predictions or decisions.</a:t>
            </a:r>
          </a:p>
          <a:p>
            <a:pPr>
              <a:buNone/>
            </a:pPr>
            <a:endParaRPr lang="en-US" altLang="zh-CN" dirty="0"/>
          </a:p>
          <a:p>
            <a:r>
              <a:rPr lang="en-US" altLang="zh-CN" dirty="0"/>
              <a:t>It can learn useful information directly from raw data such as images, speech, and text, without the need for manually defined rules.</a:t>
            </a:r>
          </a:p>
          <a:p>
            <a:endParaRPr lang="en-US" altLang="zh-CN" dirty="0"/>
          </a:p>
          <a:p>
            <a:r>
              <a:rPr lang="en-US" altLang="zh-CN" sz="2800" b="1" dirty="0"/>
              <a:t>Then, What is neural network?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FBFAB9-98E9-70C0-52E0-2B45B1E6252B}"/>
              </a:ext>
            </a:extLst>
          </p:cNvPr>
          <p:cNvSpPr txBox="1"/>
          <p:nvPr/>
        </p:nvSpPr>
        <p:spPr>
          <a:xfrm>
            <a:off x="118620" y="1871292"/>
            <a:ext cx="64407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Deep Learning ≈ Neural Network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0A97BA-D4CA-5075-90A8-8A81EEB91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48" y="1265415"/>
            <a:ext cx="3962743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5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AD23-9817-191D-8EF0-752A3028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29F9F6-77AE-7D50-E31C-35DDD3DE21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8FCA8-5F67-7C65-CF4A-8826326072F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4.2 Neural Network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E0E22-5860-9A64-3FB9-0BE2CE6E74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23</a:t>
            </a:fld>
            <a:endParaRPr lang="zh-CN" alt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C6B08C-34EC-44F9-B273-6F1C92972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852481"/>
              </p:ext>
            </p:extLst>
          </p:nvPr>
        </p:nvGraphicFramePr>
        <p:xfrm>
          <a:off x="373498" y="4283926"/>
          <a:ext cx="11060962" cy="17373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304890">
                  <a:extLst>
                    <a:ext uri="{9D8B030D-6E8A-4147-A177-3AD203B41FA5}">
                      <a16:colId xmlns:a16="http://schemas.microsoft.com/office/drawing/2014/main" val="3632072862"/>
                    </a:ext>
                  </a:extLst>
                </a:gridCol>
                <a:gridCol w="8756072">
                  <a:extLst>
                    <a:ext uri="{9D8B030D-6E8A-4147-A177-3AD203B41FA5}">
                      <a16:colId xmlns:a16="http://schemas.microsoft.com/office/drawing/2014/main" val="536884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Layer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567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Input Layer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Receives the input data, such as image pixels or hand gesture coordinates.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Hidden Layers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 intermediate computations across multiple layers to automatically extract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72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Output Layer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Produces the final prediction result, such as identifying which gesture it 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727219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F31E346A-6EAC-9378-F2CF-6A218C4AD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713" y="3724327"/>
            <a:ext cx="50525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Components of a Neural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26D26-27AC-ABC9-FC00-EE16A23BC56E}"/>
              </a:ext>
            </a:extLst>
          </p:cNvPr>
          <p:cNvSpPr txBox="1"/>
          <p:nvPr/>
        </p:nvSpPr>
        <p:spPr>
          <a:xfrm>
            <a:off x="293713" y="1583362"/>
            <a:ext cx="79437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A neural network is a mathematical model that mimics the structure of neurons in the human brain, allowing computers to "learn" and solve problems.</a:t>
            </a:r>
            <a:endParaRPr lang="zh-CN" altLang="en-US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DB1713-6A98-55CB-F667-FEBE03CB2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700" y="1049758"/>
            <a:ext cx="2235687" cy="27918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97C6C8-72EC-A289-C982-0FD8F44341C1}"/>
                  </a:ext>
                </a:extLst>
              </p14:cNvPr>
              <p14:cNvContentPartPr/>
              <p14:nvPr/>
            </p14:nvContentPartPr>
            <p14:xfrm>
              <a:off x="291819" y="5201852"/>
              <a:ext cx="10613880" cy="275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97C6C8-72EC-A289-C982-0FD8F44341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819" y="5093852"/>
                <a:ext cx="10721520" cy="49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9431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D384-8E1B-FF3E-4E27-3BE6B192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F3CF35-7847-0752-BBD6-17343ED71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98"/>
          <a:stretch/>
        </p:blipFill>
        <p:spPr>
          <a:xfrm>
            <a:off x="366234" y="1316767"/>
            <a:ext cx="5605029" cy="53116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18190C-0A7A-FEBF-2E12-8E5A6F3D39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712E-6A62-C0EA-4C06-BCBC241F8A9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4.3 Neural Network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A3EDC-B551-68C1-0738-53633E392D4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24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712B1-A871-71B0-5D93-7C6743E2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27180"/>
            <a:ext cx="5994400" cy="2554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5790FA-E1F5-FE6E-7414-4FFB202E0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316" y="4484309"/>
            <a:ext cx="2811607" cy="2093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0D9276-2E5D-0B10-C4E9-3962D08AE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3608" y="4266490"/>
            <a:ext cx="2361877" cy="236187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6BD6952-CE9F-4604-5D88-C57B349F5453}"/>
              </a:ext>
            </a:extLst>
          </p:cNvPr>
          <p:cNvSpPr/>
          <p:nvPr/>
        </p:nvSpPr>
        <p:spPr>
          <a:xfrm>
            <a:off x="4889823" y="3023406"/>
            <a:ext cx="1290493" cy="191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135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836A06-C521-4D27-4A09-F716DBAA82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3AD5-8212-CD0D-F0F5-B6AB1DC51E6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4.4 Neural Network Model Family 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35F68-13FA-9B98-B4C1-BC1E8D845E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25</a:t>
            </a:fld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1A756-063A-47B2-665F-C0D963C92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000153"/>
              </p:ext>
            </p:extLst>
          </p:nvPr>
        </p:nvGraphicFramePr>
        <p:xfrm>
          <a:off x="123725" y="1642469"/>
          <a:ext cx="11437680" cy="41565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40952">
                  <a:extLst>
                    <a:ext uri="{9D8B030D-6E8A-4147-A177-3AD203B41FA5}">
                      <a16:colId xmlns:a16="http://schemas.microsoft.com/office/drawing/2014/main" val="3224098782"/>
                    </a:ext>
                  </a:extLst>
                </a:gridCol>
                <a:gridCol w="3485661">
                  <a:extLst>
                    <a:ext uri="{9D8B030D-6E8A-4147-A177-3AD203B41FA5}">
                      <a16:colId xmlns:a16="http://schemas.microsoft.com/office/drawing/2014/main" val="3466711378"/>
                    </a:ext>
                  </a:extLst>
                </a:gridCol>
                <a:gridCol w="3551647">
                  <a:extLst>
                    <a:ext uri="{9D8B030D-6E8A-4147-A177-3AD203B41FA5}">
                      <a16:colId xmlns:a16="http://schemas.microsoft.com/office/drawing/2014/main" val="1661093288"/>
                    </a:ext>
                  </a:extLst>
                </a:gridCol>
                <a:gridCol w="2859420">
                  <a:extLst>
                    <a:ext uri="{9D8B030D-6E8A-4147-A177-3AD203B41FA5}">
                      <a16:colId xmlns:a16="http://schemas.microsoft.com/office/drawing/2014/main" val="1066303962"/>
                    </a:ext>
                  </a:extLst>
                </a:gridCol>
              </a:tblGrid>
              <a:tr h="320285">
                <a:tc>
                  <a:txBody>
                    <a:bodyPr/>
                    <a:lstStyle/>
                    <a:p>
                      <a:r>
                        <a:rPr lang="en-US" sz="1700" dirty="0"/>
                        <a:t>Model Name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Full Name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Specialty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Example Applications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837581567"/>
                  </a:ext>
                </a:extLst>
              </a:tr>
              <a:tr h="561224">
                <a:tc>
                  <a:txBody>
                    <a:bodyPr/>
                    <a:lstStyle/>
                    <a:p>
                      <a:r>
                        <a:rPr lang="en-US" sz="1700" b="1" dirty="0"/>
                        <a:t>MLP</a:t>
                      </a:r>
                      <a:endParaRPr lang="en-US" sz="17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Multilayer Perceptron (basic)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General tasks, tabular data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Digit recognition, house price prediction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11914955"/>
                  </a:ext>
                </a:extLst>
              </a:tr>
              <a:tr h="1043102">
                <a:tc>
                  <a:txBody>
                    <a:bodyPr/>
                    <a:lstStyle/>
                    <a:p>
                      <a:r>
                        <a:rPr lang="en-US" sz="1700" b="1"/>
                        <a:t>CNN</a:t>
                      </a:r>
                      <a:endParaRPr 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Convolutional Neural Network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Visual tasks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Hand gesture recognition, face detection, image classification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715299470"/>
                  </a:ext>
                </a:extLst>
              </a:tr>
              <a:tr h="802163">
                <a:tc>
                  <a:txBody>
                    <a:bodyPr/>
                    <a:lstStyle/>
                    <a:p>
                      <a:r>
                        <a:rPr lang="en-US" sz="1700" b="1"/>
                        <a:t>RNN</a:t>
                      </a:r>
                      <a:endParaRPr 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Recurrent Neural Network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Time series, language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Sentiment analysis, speech recognition, translation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98819778"/>
                  </a:ext>
                </a:extLst>
              </a:tr>
              <a:tr h="561224">
                <a:tc>
                  <a:txBody>
                    <a:bodyPr/>
                    <a:lstStyle/>
                    <a:p>
                      <a:r>
                        <a:rPr lang="en-US" sz="1700" b="1"/>
                        <a:t>Transformer</a:t>
                      </a:r>
                      <a:endParaRPr 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CN" sz="1700"/>
                        <a:t>—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Self-attention mechanism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GPT, ChatGPT, BERT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001540220"/>
                  </a:ext>
                </a:extLst>
              </a:tr>
              <a:tr h="802163">
                <a:tc>
                  <a:txBody>
                    <a:bodyPr/>
                    <a:lstStyle/>
                    <a:p>
                      <a:r>
                        <a:rPr lang="en-US" sz="1700" b="1" dirty="0"/>
                        <a:t>GAN</a:t>
                      </a:r>
                      <a:endParaRPr lang="en-US" sz="17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Generative Adversarial Network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Image generation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AI-generated art, face synthesis, super-resolution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6228713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F148A02-5857-14EB-24E3-1FDD4C1F22D6}"/>
              </a:ext>
            </a:extLst>
          </p:cNvPr>
          <p:cNvSpPr txBox="1"/>
          <p:nvPr/>
        </p:nvSpPr>
        <p:spPr>
          <a:xfrm>
            <a:off x="598375" y="5940851"/>
            <a:ext cx="109630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CNN is a member of the neural network family that's especially good at understanding images.</a:t>
            </a:r>
            <a:endParaRPr lang="zh-CN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A9D549-AB09-841D-DC0A-F12AD6EC8488}"/>
                  </a:ext>
                </a:extLst>
              </p14:cNvPr>
              <p14:cNvContentPartPr/>
              <p14:nvPr/>
            </p14:nvContentPartPr>
            <p14:xfrm>
              <a:off x="225939" y="2855212"/>
              <a:ext cx="10953000" cy="293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A9D549-AB09-841D-DC0A-F12AD6EC84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939" y="2747572"/>
                <a:ext cx="11060640" cy="50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4363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15FBD1-8BDC-4C86-2C2C-B9ACC1417A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67A8F-B39D-F6CC-0B83-2F4788D188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10728960" cy="480053"/>
          </a:xfrm>
        </p:spPr>
        <p:txBody>
          <a:bodyPr/>
          <a:lstStyle/>
          <a:p>
            <a:r>
              <a:rPr lang="en-US" altLang="zh-CN" dirty="0"/>
              <a:t>How do human beings understand images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738E0-E374-4D6D-B399-6FDCC8E07D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26</a:t>
            </a:fld>
            <a:endParaRPr lang="zh-CN" altLang="en-US" dirty="0"/>
          </a:p>
        </p:txBody>
      </p:sp>
      <p:pic>
        <p:nvPicPr>
          <p:cNvPr id="1026" name="Picture 2" descr="人类视觉原理1">
            <a:extLst>
              <a:ext uri="{FF2B5EF4-FFF2-40B4-BE49-F238E27FC236}">
                <a16:creationId xmlns:a16="http://schemas.microsoft.com/office/drawing/2014/main" id="{588C98FD-DC9F-B33B-5BA5-78A7B09B6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23" y="1424022"/>
            <a:ext cx="6392544" cy="490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人类视觉原理2">
            <a:extLst>
              <a:ext uri="{FF2B5EF4-FFF2-40B4-BE49-F238E27FC236}">
                <a16:creationId xmlns:a16="http://schemas.microsoft.com/office/drawing/2014/main" id="{81203FCE-9F32-777A-46DA-FC951149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268" y="2212314"/>
            <a:ext cx="4833909" cy="298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872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A330E-47B2-3CD3-0C30-8DDC897C40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947079-ED1A-6700-4A8F-FC0A0269076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How do machines 'see' images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11EB8-22B4-77D1-7AE3-981B7CCEEF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27</a:t>
            </a:fld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A7C5B-1BDE-FCBA-85CE-BBCF42B4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79" y="1267151"/>
            <a:ext cx="8983741" cy="3164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0F50A4-8E4D-5D86-239B-1A2AFCEB9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22" y="4421531"/>
            <a:ext cx="3902635" cy="22999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6D4103-8B8F-6AD3-0A8C-F4420318B2F0}"/>
              </a:ext>
            </a:extLst>
          </p:cNvPr>
          <p:cNvSpPr/>
          <p:nvPr/>
        </p:nvSpPr>
        <p:spPr>
          <a:xfrm>
            <a:off x="4247234" y="4723144"/>
            <a:ext cx="2122165" cy="19037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878D7-32EC-49BC-1E34-C6B6B7EE644F}"/>
              </a:ext>
            </a:extLst>
          </p:cNvPr>
          <p:cNvSpPr/>
          <p:nvPr/>
        </p:nvSpPr>
        <p:spPr>
          <a:xfrm>
            <a:off x="8413693" y="4813807"/>
            <a:ext cx="1923068" cy="17251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F72FCF-023D-EDCA-7BE2-CEC734143A73}"/>
              </a:ext>
            </a:extLst>
          </p:cNvPr>
          <p:cNvSpPr txBox="1"/>
          <p:nvPr/>
        </p:nvSpPr>
        <p:spPr>
          <a:xfrm>
            <a:off x="10204800" y="2551750"/>
            <a:ext cx="1831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[ 0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，</a:t>
            </a:r>
            <a:r>
              <a:rPr lang="en-US" altLang="zh-CN" dirty="0"/>
              <a:t>… ]</a:t>
            </a:r>
            <a:endParaRPr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828EA2-F662-8029-6665-36E671B157BE}"/>
              </a:ext>
            </a:extLst>
          </p:cNvPr>
          <p:cNvSpPr txBox="1"/>
          <p:nvPr/>
        </p:nvSpPr>
        <p:spPr>
          <a:xfrm>
            <a:off x="10006055" y="2178216"/>
            <a:ext cx="230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1D Vector/ 1D array</a:t>
            </a:r>
            <a:endParaRPr lang="zh-CN" alt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1012D2D-A856-BD7E-B7E0-566338947C43}"/>
              </a:ext>
            </a:extLst>
          </p:cNvPr>
          <p:cNvSpPr/>
          <p:nvPr/>
        </p:nvSpPr>
        <p:spPr>
          <a:xfrm>
            <a:off x="9092986" y="2454236"/>
            <a:ext cx="1003454" cy="56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flatten</a:t>
            </a:r>
            <a:endParaRPr lang="zh-CN" alt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AD5F3A3-0CB8-3545-5EA8-E5D0DEBF0E7C}"/>
              </a:ext>
            </a:extLst>
          </p:cNvPr>
          <p:cNvSpPr/>
          <p:nvPr/>
        </p:nvSpPr>
        <p:spPr>
          <a:xfrm>
            <a:off x="6071641" y="4603503"/>
            <a:ext cx="1003454" cy="56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flatten</a:t>
            </a:r>
            <a:endParaRPr lang="zh-CN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5B2EF9-CEAB-20F7-5D87-934F8EAF650A}"/>
              </a:ext>
            </a:extLst>
          </p:cNvPr>
          <p:cNvSpPr txBox="1"/>
          <p:nvPr/>
        </p:nvSpPr>
        <p:spPr>
          <a:xfrm>
            <a:off x="10412950" y="5473920"/>
            <a:ext cx="1881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[ 0, 0, 0, … 0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… ]</a:t>
            </a:r>
            <a:endParaRPr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5915D9-B880-588A-8598-B901F393A3C2}"/>
              </a:ext>
            </a:extLst>
          </p:cNvPr>
          <p:cNvSpPr txBox="1"/>
          <p:nvPr/>
        </p:nvSpPr>
        <p:spPr>
          <a:xfrm>
            <a:off x="6466282" y="5361395"/>
            <a:ext cx="1798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17</a:t>
            </a:r>
            <a:r>
              <a:rPr lang="zh-CN" altLang="en-US" dirty="0"/>
              <a:t>，</a:t>
            </a:r>
            <a:r>
              <a:rPr lang="en-US" altLang="zh-CN" dirty="0"/>
              <a:t>…, 0, 0, 0… ]</a:t>
            </a:r>
            <a:endParaRPr lang="zh-CN" altLang="en-US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35880D5-1A0F-0296-3BAB-CCE86D6FF301}"/>
              </a:ext>
            </a:extLst>
          </p:cNvPr>
          <p:cNvSpPr/>
          <p:nvPr/>
        </p:nvSpPr>
        <p:spPr>
          <a:xfrm>
            <a:off x="10209990" y="4723144"/>
            <a:ext cx="1003454" cy="56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flatten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3065FFD-DB1F-02A7-B28F-76B423C7841E}"/>
                  </a:ext>
                </a:extLst>
              </p14:cNvPr>
              <p14:cNvContentPartPr/>
              <p14:nvPr/>
            </p14:nvContentPartPr>
            <p14:xfrm>
              <a:off x="4451309" y="4862428"/>
              <a:ext cx="226440" cy="537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3065FFD-DB1F-02A7-B28F-76B423C784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3280" y="4844428"/>
                <a:ext cx="262137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7E3A4B3-6B32-6A82-061D-4BF9D04EF6D1}"/>
                  </a:ext>
                </a:extLst>
              </p14:cNvPr>
              <p14:cNvContentPartPr/>
              <p14:nvPr/>
            </p14:nvContentPartPr>
            <p14:xfrm>
              <a:off x="9982200" y="6034001"/>
              <a:ext cx="220320" cy="408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7E3A4B3-6B32-6A82-061D-4BF9D04EF6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64171" y="6016001"/>
                <a:ext cx="256018" cy="44424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494D6420-17E3-DE24-C675-C2F0881F5DBD}"/>
              </a:ext>
            </a:extLst>
          </p:cNvPr>
          <p:cNvSpPr txBox="1"/>
          <p:nvPr/>
        </p:nvSpPr>
        <p:spPr>
          <a:xfrm>
            <a:off x="9375227" y="3429000"/>
            <a:ext cx="26810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During the flattening process, we lost the adjacency relationships.</a:t>
            </a:r>
            <a:endParaRPr lang="zh-CN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4A06DE-D3C8-3683-5147-73ADBBC2AAC4}"/>
              </a:ext>
            </a:extLst>
          </p:cNvPr>
          <p:cNvSpPr txBox="1"/>
          <p:nvPr/>
        </p:nvSpPr>
        <p:spPr>
          <a:xfrm>
            <a:off x="6369399" y="915494"/>
            <a:ext cx="356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2D Tensor/ 2D Matrix/ 2D array</a:t>
            </a:r>
            <a:endParaRPr lang="zh-CN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E66DE4-0B40-A765-9A6A-F4982A3ECDF5}"/>
              </a:ext>
            </a:extLst>
          </p:cNvPr>
          <p:cNvSpPr txBox="1"/>
          <p:nvPr/>
        </p:nvSpPr>
        <p:spPr>
          <a:xfrm>
            <a:off x="111717" y="6474380"/>
            <a:ext cx="356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3D Tensor/ 3D Matrix/ 3D array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3236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178A789-7588-8C16-342E-B58E5D17B7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CNN-</a:t>
            </a:r>
            <a:r>
              <a:rPr lang="en-US" altLang="zh-CN" sz="3200" dirty="0"/>
              <a:t>Convolutional Neural Network</a:t>
            </a:r>
          </a:p>
          <a:p>
            <a:endParaRPr lang="zh-CN" alt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3809CB8-E3F6-A628-BD55-67E60BC6C25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 General Overview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DBCB4D-9F78-378C-527E-ABA8DA1D3C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D6D89D-375F-9980-2249-674ECB8D6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953138"/>
            <a:ext cx="2876367" cy="2589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DC0D6E-29B2-F19F-7E1E-C04E6CEC7F85}"/>
              </a:ext>
            </a:extLst>
          </p:cNvPr>
          <p:cNvSpPr txBox="1"/>
          <p:nvPr/>
        </p:nvSpPr>
        <p:spPr>
          <a:xfrm>
            <a:off x="190977" y="1441569"/>
            <a:ext cx="9454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Convolutional layer + non-linear activation (e.g., </a:t>
            </a:r>
            <a:r>
              <a:rPr lang="en-US" altLang="zh-CN" b="1" dirty="0" err="1"/>
              <a:t>ReLU</a:t>
            </a:r>
            <a:r>
              <a:rPr lang="en-US" altLang="zh-CN" b="1" dirty="0"/>
              <a:t>): used to extract image features</a:t>
            </a:r>
          </a:p>
          <a:p>
            <a:br>
              <a:rPr lang="en-US" altLang="zh-CN" b="1" dirty="0"/>
            </a:br>
            <a:r>
              <a:rPr lang="en-US" altLang="zh-CN" b="1" dirty="0"/>
              <a:t>Pooling layer: reduces dimensionality and compresses information to prevent overfitting</a:t>
            </a:r>
          </a:p>
          <a:p>
            <a:br>
              <a:rPr lang="en-US" altLang="zh-CN" b="1" dirty="0"/>
            </a:br>
            <a:r>
              <a:rPr lang="en-US" altLang="zh-CN" b="1" dirty="0"/>
              <a:t>Fully connected layer (output layer): produces the final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A9E1C-827D-4A59-862D-F689E23D3D4A}"/>
              </a:ext>
            </a:extLst>
          </p:cNvPr>
          <p:cNvSpPr txBox="1"/>
          <p:nvPr/>
        </p:nvSpPr>
        <p:spPr>
          <a:xfrm>
            <a:off x="303186" y="3010892"/>
            <a:ext cx="7043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Input image = Input layer</a:t>
            </a:r>
          </a:p>
          <a:p>
            <a:r>
              <a:rPr lang="en-US" altLang="zh-CN" dirty="0"/>
              <a:t>Convolution + Pooling = Hidden layers</a:t>
            </a:r>
          </a:p>
          <a:p>
            <a:r>
              <a:rPr lang="en-US" altLang="zh-CN" dirty="0"/>
              <a:t>Fully connected layer + </a:t>
            </a:r>
            <a:r>
              <a:rPr lang="en-US" altLang="zh-CN" dirty="0" err="1"/>
              <a:t>Softmax</a:t>
            </a:r>
            <a:r>
              <a:rPr lang="en-US" altLang="zh-CN" dirty="0"/>
              <a:t> = Output layer</a:t>
            </a:r>
            <a:endParaRPr lang="zh-CN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4864B7-448A-00E8-71B2-2DA1435EAB18}"/>
              </a:ext>
            </a:extLst>
          </p:cNvPr>
          <p:cNvGrpSpPr/>
          <p:nvPr/>
        </p:nvGrpSpPr>
        <p:grpSpPr>
          <a:xfrm>
            <a:off x="414014" y="3934222"/>
            <a:ext cx="10939786" cy="2758679"/>
            <a:chOff x="303186" y="3694638"/>
            <a:chExt cx="10939786" cy="27586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A7C407-FD6C-44A7-4262-BEAE8A5FE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014" y="3694638"/>
              <a:ext cx="10828958" cy="275867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F1F84A-0FDC-A2A3-C965-EC5B68B9A1AF}"/>
                </a:ext>
              </a:extLst>
            </p:cNvPr>
            <p:cNvSpPr txBox="1"/>
            <p:nvPr/>
          </p:nvSpPr>
          <p:spPr>
            <a:xfrm>
              <a:off x="303186" y="4035119"/>
              <a:ext cx="1565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Input image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9EBC0E-898E-9E75-C518-2D607ED94081}"/>
                </a:ext>
              </a:extLst>
            </p:cNvPr>
            <p:cNvSpPr txBox="1"/>
            <p:nvPr/>
          </p:nvSpPr>
          <p:spPr>
            <a:xfrm>
              <a:off x="6860057" y="4167679"/>
              <a:ext cx="13928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Flatten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5F4F38-0991-D38C-6465-8059BC8A306F}"/>
                </a:ext>
              </a:extLst>
            </p:cNvPr>
            <p:cNvSpPr txBox="1"/>
            <p:nvPr/>
          </p:nvSpPr>
          <p:spPr>
            <a:xfrm>
              <a:off x="9048718" y="4212639"/>
              <a:ext cx="1345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rgbClr val="FF0000"/>
                  </a:solidFill>
                </a:rPr>
                <a:t>Softmax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EA9F00-EF0E-F83D-9F50-679E3EF5FCAE}"/>
                </a:ext>
              </a:extLst>
            </p:cNvPr>
            <p:cNvSpPr txBox="1"/>
            <p:nvPr/>
          </p:nvSpPr>
          <p:spPr>
            <a:xfrm>
              <a:off x="7849743" y="4176371"/>
              <a:ext cx="13928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+</a:t>
              </a:r>
              <a:r>
                <a:rPr lang="en-US" altLang="zh-CN" dirty="0" err="1">
                  <a:solidFill>
                    <a:srgbClr val="FF0000"/>
                  </a:solidFill>
                </a:rPr>
                <a:t>ReLU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F66286E-8104-9227-BCB4-2F610C671767}"/>
              </a:ext>
            </a:extLst>
          </p:cNvPr>
          <p:cNvSpPr txBox="1"/>
          <p:nvPr/>
        </p:nvSpPr>
        <p:spPr>
          <a:xfrm>
            <a:off x="9492358" y="229089"/>
            <a:ext cx="269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602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541234-045B-B2B3-6C0A-653B1EAC1C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Convolutional Layer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E59B0-3226-1645-1E20-8C174E484C5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1.1 Convolutional kernel 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F8163-2C0E-A74D-C101-6B2D1E64F8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29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D581E1-5226-52B2-B70C-88D8FB873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90" y="1381489"/>
            <a:ext cx="3919802" cy="2335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E2C3B5-7308-8353-C199-D708BD7DC083}"/>
              </a:ext>
            </a:extLst>
          </p:cNvPr>
          <p:cNvSpPr txBox="1"/>
          <p:nvPr/>
        </p:nvSpPr>
        <p:spPr>
          <a:xfrm>
            <a:off x="5607503" y="1182751"/>
            <a:ext cx="158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u="none" strike="noStrike" dirty="0">
                <a:solidFill>
                  <a:srgbClr val="E00013"/>
                </a:solidFill>
                <a:effectLst/>
                <a:latin typeface="Poppins-Medium"/>
              </a:rPr>
              <a:t>dot product</a:t>
            </a:r>
            <a:endParaRPr lang="en-US" altLang="zh-CN" b="0" i="0" dirty="0">
              <a:solidFill>
                <a:srgbClr val="000000"/>
              </a:solidFill>
              <a:effectLst/>
              <a:latin typeface="Poppins-Medium"/>
            </a:endParaRPr>
          </a:p>
        </p:txBody>
      </p:sp>
      <p:pic>
        <p:nvPicPr>
          <p:cNvPr id="2050" name="Picture 2" descr="卷积层运算过程">
            <a:extLst>
              <a:ext uri="{FF2B5EF4-FFF2-40B4-BE49-F238E27FC236}">
                <a16:creationId xmlns:a16="http://schemas.microsoft.com/office/drawing/2014/main" id="{CF341AC6-259F-27D6-4DC1-A0F1FF440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742" y="1600013"/>
            <a:ext cx="3028868" cy="221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44C580-6D69-17F4-49EF-2FA38A223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290125"/>
            <a:ext cx="4439847" cy="22554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0FED6C-CB00-66AD-EC39-FF20C7609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355" y="4424529"/>
            <a:ext cx="3987041" cy="21667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87782C-12AB-9103-B9B1-325F99E099AD}"/>
              </a:ext>
            </a:extLst>
          </p:cNvPr>
          <p:cNvSpPr txBox="1"/>
          <p:nvPr/>
        </p:nvSpPr>
        <p:spPr>
          <a:xfrm>
            <a:off x="7806572" y="4189213"/>
            <a:ext cx="2308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Feature Maps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F3942-070B-ACF9-C7D0-8311A4E7ACA6}"/>
              </a:ext>
            </a:extLst>
          </p:cNvPr>
          <p:cNvSpPr txBox="1"/>
          <p:nvPr/>
        </p:nvSpPr>
        <p:spPr>
          <a:xfrm>
            <a:off x="8302943" y="1966943"/>
            <a:ext cx="36709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kernel size             (in this case: 3*3)</a:t>
            </a:r>
          </a:p>
          <a:p>
            <a:r>
              <a:rPr lang="en-US" altLang="zh-CN" dirty="0"/>
              <a:t>Stride (Step)          (in this case: 1)</a:t>
            </a:r>
          </a:p>
          <a:p>
            <a:r>
              <a:rPr lang="en-US" altLang="zh-CN" dirty="0"/>
              <a:t>kernel number      (in this case: 6)</a:t>
            </a:r>
          </a:p>
          <a:p>
            <a:r>
              <a:rPr lang="en-US" altLang="zh-CN" dirty="0"/>
              <a:t>Padding                (in this case: no)</a:t>
            </a:r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5CBCA9-38A3-6EC3-5AE3-48960472167C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5F42631-83B6-C3C2-C6B6-67A2D8B3F875}"/>
                  </a:ext>
                </a:extLst>
              </p14:cNvPr>
              <p14:cNvContentPartPr/>
              <p14:nvPr/>
            </p14:nvContentPartPr>
            <p14:xfrm>
              <a:off x="7342419" y="2793886"/>
              <a:ext cx="954480" cy="1749526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5F42631-83B6-C3C2-C6B6-67A2D8B3F8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6414" y="2758248"/>
                <a:ext cx="1026129" cy="1821163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C73BE5B-6177-0CAE-310A-915C3AF9E0AA}"/>
              </a:ext>
            </a:extLst>
          </p:cNvPr>
          <p:cNvGrpSpPr/>
          <p:nvPr/>
        </p:nvGrpSpPr>
        <p:grpSpPr>
          <a:xfrm>
            <a:off x="7776579" y="2129252"/>
            <a:ext cx="493560" cy="319680"/>
            <a:chOff x="7776579" y="2129252"/>
            <a:chExt cx="49356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298FE66-458F-3376-2523-13BDD68FE0DA}"/>
                    </a:ext>
                  </a:extLst>
                </p14:cNvPr>
                <p14:cNvContentPartPr/>
                <p14:nvPr/>
              </p14:nvContentPartPr>
              <p14:xfrm>
                <a:off x="8015259" y="2129252"/>
                <a:ext cx="254880" cy="319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298FE66-458F-3376-2523-13BDD68FE0D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79259" y="2093252"/>
                  <a:ext cx="3265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726F58-C82D-85E7-6D6D-9F48711CAA23}"/>
                    </a:ext>
                  </a:extLst>
                </p14:cNvPr>
                <p14:cNvContentPartPr/>
                <p14:nvPr/>
              </p14:nvContentPartPr>
              <p14:xfrm>
                <a:off x="7776579" y="2271452"/>
                <a:ext cx="2361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726F58-C82D-85E7-6D6D-9F48711CAA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40579" y="2235812"/>
                  <a:ext cx="3078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0636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E5DBEE-E830-C03B-CFAC-312F938694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Convolutional Layer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A580E-0BBB-FC20-97AB-023255EF9A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7352907" cy="480053"/>
          </a:xfrm>
        </p:spPr>
        <p:txBody>
          <a:bodyPr/>
          <a:lstStyle/>
          <a:p>
            <a:r>
              <a:rPr lang="en-US" altLang="zh-CN" dirty="0"/>
              <a:t>1.2 Typical computation flow in forward pass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DBF91-20E2-8D80-F1EA-989E637950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6996F-677E-55ED-F239-44D40666CCD9}"/>
              </a:ext>
            </a:extLst>
          </p:cNvPr>
          <p:cNvSpPr txBox="1"/>
          <p:nvPr/>
        </p:nvSpPr>
        <p:spPr>
          <a:xfrm>
            <a:off x="671661" y="1555036"/>
            <a:ext cx="59648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x (input data)</a:t>
            </a:r>
          </a:p>
          <a:p>
            <a:pPr algn="ctr"/>
            <a:r>
              <a:rPr lang="zh-CN" altLang="en-US" dirty="0"/>
              <a:t>   │</a:t>
            </a:r>
          </a:p>
          <a:p>
            <a:pPr algn="ctr"/>
            <a:r>
              <a:rPr lang="zh-CN" altLang="en-US" dirty="0"/>
              <a:t>   ▼</a:t>
            </a:r>
          </a:p>
          <a:p>
            <a:pPr algn="ctr"/>
            <a:r>
              <a:rPr lang="zh-CN" altLang="en-US" dirty="0"/>
              <a:t>Linear Layer (weights w, bias b)</a:t>
            </a:r>
          </a:p>
          <a:p>
            <a:pPr algn="ctr"/>
            <a:r>
              <a:rPr lang="zh-CN" altLang="en-US" dirty="0"/>
              <a:t>   │</a:t>
            </a:r>
          </a:p>
          <a:p>
            <a:pPr algn="ctr"/>
            <a:r>
              <a:rPr lang="zh-CN" altLang="en-US" dirty="0"/>
              <a:t>   ▼</a:t>
            </a:r>
          </a:p>
          <a:p>
            <a:pPr algn="ctr"/>
            <a:r>
              <a:rPr lang="zh-CN" altLang="en-US" dirty="0"/>
              <a:t>z = wx + b (linear transformation — this is where the convolution kernel scans over the image and performs dot products)</a:t>
            </a:r>
          </a:p>
          <a:p>
            <a:pPr algn="ctr"/>
            <a:r>
              <a:rPr lang="zh-CN" altLang="en-US" dirty="0"/>
              <a:t>   │</a:t>
            </a:r>
          </a:p>
          <a:p>
            <a:pPr algn="ctr"/>
            <a:r>
              <a:rPr lang="zh-CN" altLang="en-US" dirty="0"/>
              <a:t>   ▼</a:t>
            </a:r>
          </a:p>
          <a:p>
            <a:pPr algn="ctr"/>
            <a:r>
              <a:rPr lang="zh-CN" altLang="en-US" dirty="0"/>
              <a:t>ReLU (non-linear activation function)</a:t>
            </a:r>
          </a:p>
          <a:p>
            <a:pPr algn="ctr"/>
            <a:r>
              <a:rPr lang="zh-CN" altLang="en-US" dirty="0"/>
              <a:t>   │</a:t>
            </a:r>
          </a:p>
          <a:p>
            <a:pPr algn="ctr"/>
            <a:r>
              <a:rPr lang="zh-CN" altLang="en-US" dirty="0"/>
              <a:t>   ▼</a:t>
            </a:r>
          </a:p>
          <a:p>
            <a:pPr algn="ctr"/>
            <a:r>
              <a:rPr lang="zh-CN" altLang="en-US" dirty="0"/>
              <a:t>a = ReLU(z) (activation result)</a:t>
            </a:r>
          </a:p>
          <a:p>
            <a:pPr algn="ctr"/>
            <a:r>
              <a:rPr lang="zh-CN" altLang="en-US" dirty="0"/>
              <a:t>   │</a:t>
            </a:r>
          </a:p>
          <a:p>
            <a:pPr algn="ctr"/>
            <a:r>
              <a:rPr lang="zh-CN" altLang="en-US" dirty="0"/>
              <a:t>   ▼</a:t>
            </a:r>
          </a:p>
          <a:p>
            <a:pPr algn="ctr"/>
            <a:r>
              <a:rPr lang="zh-CN" altLang="en-US" dirty="0"/>
              <a:t>Pass to the </a:t>
            </a:r>
            <a:r>
              <a:rPr lang="en-US" altLang="zh-CN" dirty="0"/>
              <a:t>next</a:t>
            </a:r>
            <a:r>
              <a:rPr lang="zh-CN" altLang="en-US" dirty="0"/>
              <a:t>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1F70E-D090-7E0A-A92E-33875380E73E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0B2534-10FA-AA8E-89C3-4B9F4A2B1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596" y="3249283"/>
            <a:ext cx="3919698" cy="3175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CB8E0-F42F-1F5D-18B4-6943C230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677" y="1076740"/>
            <a:ext cx="4107536" cy="20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00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6D2F751-626F-C3B7-7660-FC774BB220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Convolutional Layer</a:t>
            </a:r>
            <a:endParaRPr lang="zh-CN" alt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3A61432-0DC8-5050-5D00-747C32136B3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1.3 None-linear activation layer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BA8CCA-7B66-E935-AE0E-FA53861C19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D0654-2C2C-D28E-96F2-10CD24AEA948}"/>
              </a:ext>
            </a:extLst>
          </p:cNvPr>
          <p:cNvSpPr txBox="1"/>
          <p:nvPr/>
        </p:nvSpPr>
        <p:spPr>
          <a:xfrm>
            <a:off x="399904" y="1371713"/>
            <a:ext cx="1100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None-linear activation function introduces non-linearity, allowing the network to model complex relationships. It also helps emphasize important features by filtering out low-activation signals.</a:t>
            </a:r>
            <a:endParaRPr lang="zh-CN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FED0D0-1EAA-CCF0-10F3-7C03CEFFBDF4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83D455E-B465-BD97-A4F9-6501A72B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65" y="2072990"/>
            <a:ext cx="5515883" cy="412325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180616-7A52-CD88-2F96-7F648D04B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25567"/>
            <a:ext cx="5477812" cy="412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24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4E1F21-759C-47E7-CCC3-20D8EFBD25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Convolutional Layer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27E22-BA59-E3D8-5104-F2D85D917E1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1.4 None-linear activation layer - </a:t>
            </a:r>
            <a:r>
              <a:rPr lang="en-US" altLang="zh-CN" dirty="0" err="1"/>
              <a:t>ReLU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219D3-D633-836C-64D0-25AC713DC8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8929A6BD-C22B-E4F0-5313-703ABA486224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83C64-143D-BCBB-B945-293323875ADC}"/>
              </a:ext>
            </a:extLst>
          </p:cNvPr>
          <p:cNvSpPr txBox="1"/>
          <p:nvPr/>
        </p:nvSpPr>
        <p:spPr>
          <a:xfrm>
            <a:off x="8402715" y="5310625"/>
            <a:ext cx="2951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46AA"/>
                </a:solidFill>
                <a:effectLst/>
                <a:latin typeface="Poppins-Medium"/>
              </a:rPr>
              <a:t>gradient descent</a:t>
            </a:r>
            <a:r>
              <a:rPr lang="zh-CN" altLang="en-US" b="1" i="0" dirty="0">
                <a:solidFill>
                  <a:srgbClr val="0046AA"/>
                </a:solidFill>
                <a:effectLst/>
                <a:latin typeface="Poppins-Medium"/>
              </a:rPr>
              <a:t>？？？</a:t>
            </a:r>
            <a:endParaRPr lang="zh-CN" altLang="en-US" dirty="0">
              <a:solidFill>
                <a:srgbClr val="0046AA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561BAF-A585-935D-38DD-708D53E84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841" y="3324925"/>
            <a:ext cx="2146976" cy="1917353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E533B916-819A-E1E0-87DF-4070E00920F3}"/>
              </a:ext>
            </a:extLst>
          </p:cNvPr>
          <p:cNvSpPr txBox="1"/>
          <p:nvPr/>
        </p:nvSpPr>
        <p:spPr>
          <a:xfrm>
            <a:off x="426458" y="5710019"/>
            <a:ext cx="1136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ReLU</a:t>
            </a:r>
            <a:r>
              <a:rPr lang="en-US" altLang="zh-CN" dirty="0"/>
              <a:t> is widely used because it provides stable </a:t>
            </a:r>
            <a:r>
              <a:rPr lang="en-US" altLang="zh-CN" dirty="0">
                <a:highlight>
                  <a:srgbClr val="FFFF00"/>
                </a:highlight>
              </a:rPr>
              <a:t>gradient flow </a:t>
            </a:r>
            <a:r>
              <a:rPr lang="en-US" altLang="zh-CN" dirty="0"/>
              <a:t>during training, converges quickly, avoids the </a:t>
            </a:r>
            <a:r>
              <a:rPr lang="en-US" altLang="zh-CN" dirty="0">
                <a:highlight>
                  <a:srgbClr val="FFFF00"/>
                </a:highlight>
              </a:rPr>
              <a:t>vanishing gradient </a:t>
            </a:r>
            <a:r>
              <a:rPr lang="en-US" altLang="zh-CN" dirty="0"/>
              <a:t>problem, and is computationally simple.</a:t>
            </a:r>
            <a:endParaRPr lang="zh-CN" altLang="en-US" dirty="0"/>
          </a:p>
        </p:txBody>
      </p:sp>
      <p:grpSp>
        <p:nvGrpSpPr>
          <p:cNvPr id="14" name="Group 12">
            <a:extLst>
              <a:ext uri="{FF2B5EF4-FFF2-40B4-BE49-F238E27FC236}">
                <a16:creationId xmlns:a16="http://schemas.microsoft.com/office/drawing/2014/main" id="{444019A5-BCDD-8F92-BDCE-9B69059ED47C}"/>
              </a:ext>
            </a:extLst>
          </p:cNvPr>
          <p:cNvGrpSpPr/>
          <p:nvPr/>
        </p:nvGrpSpPr>
        <p:grpSpPr>
          <a:xfrm>
            <a:off x="485818" y="1766894"/>
            <a:ext cx="7609012" cy="4011798"/>
            <a:chOff x="1001588" y="325568"/>
            <a:chExt cx="9556433" cy="5038562"/>
          </a:xfrm>
        </p:grpSpPr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4C9EACF2-CCA3-F412-BD5F-B1C10B482C3F}"/>
                </a:ext>
              </a:extLst>
            </p:cNvPr>
            <p:cNvGrpSpPr/>
            <p:nvPr/>
          </p:nvGrpSpPr>
          <p:grpSpPr>
            <a:xfrm>
              <a:off x="1001588" y="325568"/>
              <a:ext cx="9556433" cy="5038562"/>
              <a:chOff x="1001588" y="651269"/>
              <a:chExt cx="10188823" cy="5555461"/>
            </a:xfrm>
          </p:grpSpPr>
          <p:pic>
            <p:nvPicPr>
              <p:cNvPr id="18" name="Picture 3">
                <a:extLst>
                  <a:ext uri="{FF2B5EF4-FFF2-40B4-BE49-F238E27FC236}">
                    <a16:creationId xmlns:a16="http://schemas.microsoft.com/office/drawing/2014/main" id="{5AEDF05E-2E9F-30A7-036C-66DD61E26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1588" y="651269"/>
                <a:ext cx="10188823" cy="5555461"/>
              </a:xfrm>
              <a:prstGeom prst="rect">
                <a:avLst/>
              </a:prstGeom>
            </p:spPr>
          </p:pic>
          <p:grpSp>
            <p:nvGrpSpPr>
              <p:cNvPr id="20" name="Group 5">
                <a:extLst>
                  <a:ext uri="{FF2B5EF4-FFF2-40B4-BE49-F238E27FC236}">
                    <a16:creationId xmlns:a16="http://schemas.microsoft.com/office/drawing/2014/main" id="{9A4D568A-E8CD-4299-B041-CD525C72AD82}"/>
                  </a:ext>
                </a:extLst>
              </p:cNvPr>
              <p:cNvGrpSpPr/>
              <p:nvPr/>
            </p:nvGrpSpPr>
            <p:grpSpPr>
              <a:xfrm>
                <a:off x="1781666" y="763571"/>
                <a:ext cx="2696066" cy="1160317"/>
                <a:chOff x="1781666" y="763571"/>
                <a:chExt cx="2696066" cy="1160317"/>
              </a:xfrm>
            </p:grpSpPr>
            <p:sp>
              <p:nvSpPr>
                <p:cNvPr id="21" name="Rectangle 2">
                  <a:extLst>
                    <a:ext uri="{FF2B5EF4-FFF2-40B4-BE49-F238E27FC236}">
                      <a16:creationId xmlns:a16="http://schemas.microsoft.com/office/drawing/2014/main" id="{E3240C68-66C7-27EC-4F5D-1C81E82AC687}"/>
                    </a:ext>
                  </a:extLst>
                </p:cNvPr>
                <p:cNvSpPr/>
                <p:nvPr/>
              </p:nvSpPr>
              <p:spPr>
                <a:xfrm>
                  <a:off x="1781666" y="763571"/>
                  <a:ext cx="2696066" cy="631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Rectangle 4">
                  <a:extLst>
                    <a:ext uri="{FF2B5EF4-FFF2-40B4-BE49-F238E27FC236}">
                      <a16:creationId xmlns:a16="http://schemas.microsoft.com/office/drawing/2014/main" id="{1277C356-517D-95B7-D449-35B3040E2954}"/>
                    </a:ext>
                  </a:extLst>
                </p:cNvPr>
                <p:cNvSpPr/>
                <p:nvPr/>
              </p:nvSpPr>
              <p:spPr>
                <a:xfrm>
                  <a:off x="2490247" y="1395167"/>
                  <a:ext cx="1110792" cy="5287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C6B24B2A-4EFE-9683-CFDA-E42DFF84681D}"/>
                </a:ext>
              </a:extLst>
            </p:cNvPr>
            <p:cNvSpPr txBox="1"/>
            <p:nvPr/>
          </p:nvSpPr>
          <p:spPr>
            <a:xfrm>
              <a:off x="2560969" y="1093760"/>
              <a:ext cx="47636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Rectified linear operator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40060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B3A8-2629-4E8B-014A-3B510073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72C638-C992-CC3F-2D20-08FDBBC7B9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Convolutional Layer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72C1F-8038-4245-5C84-BD48D44B29E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1.5 Weights 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BF922-5A96-4EE6-A70E-4F6AB6B368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33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91D8EF-9DD9-66D7-5142-7BC81FD60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878" y="1492995"/>
            <a:ext cx="3919802" cy="2335336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2FBB7AA-8CE2-B589-F151-1220DEAF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302" y="1775021"/>
            <a:ext cx="47327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The numbers (weights) in the convolutional kernel are not manually set by humans — they are learned automatically from data by the model through the following process:</a:t>
            </a:r>
            <a:br>
              <a:rPr lang="en-US" altLang="zh-CN" dirty="0"/>
            </a:br>
            <a:r>
              <a:rPr lang="en-US" altLang="zh-CN" b="1" dirty="0"/>
              <a:t>Forward propagation → Loss calculation → Backpropagation → Gradient descent → Weight update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79E91-AE39-0A78-9861-49FC3A5CA716}"/>
              </a:ext>
            </a:extLst>
          </p:cNvPr>
          <p:cNvSpPr txBox="1"/>
          <p:nvPr/>
        </p:nvSpPr>
        <p:spPr>
          <a:xfrm>
            <a:off x="3755867" y="3548562"/>
            <a:ext cx="1251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Iteration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83E433E-D81D-091F-26EB-C8D470DFD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03" y="4398774"/>
            <a:ext cx="118507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 propagation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model “submits the exam” → makes a prediction (e.g., cat or dog)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Calculation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teacher “grades the exam” → realizes the answer is wrong (predicted cat but it's actually a dog)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Backpropagation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Analyzes where and how the mistake happened → traces responsibility back through each layer (each neuron and weight)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Descent + </a:t>
            </a:r>
            <a:r>
              <a:rPr lang="en-US" altLang="zh-CN" b="1" dirty="0"/>
              <a:t>Weight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Corrects the mistakes → updates the model’s “way of thinking” (i.e., updates the weights)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10965C-5268-F9D4-83CF-0F2F0C907200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D8155C-0355-D2CB-B1BD-4CB3797D3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075" y="1547628"/>
            <a:ext cx="3011623" cy="22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21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2887B89-5540-11A9-59BE-EDAC55D7E1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 Convolutional Layer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B0F8DC-D8AF-3D5C-77E7-47E3DBAE892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1.6 Gradient Descent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AE4D20-8570-D812-3923-BC05B0A541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492103-3EB2-96B0-F3EF-1705D392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23" y="1510632"/>
            <a:ext cx="3910720" cy="29573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EF2ED9-E512-3F9D-922A-D0B42D1A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117" y="1513861"/>
            <a:ext cx="3682798" cy="278312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6D65939-150C-2CEE-3AB9-992D5B37DADF}"/>
              </a:ext>
            </a:extLst>
          </p:cNvPr>
          <p:cNvSpPr txBox="1"/>
          <p:nvPr/>
        </p:nvSpPr>
        <p:spPr>
          <a:xfrm>
            <a:off x="258040" y="6372946"/>
            <a:ext cx="618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https://mladdict.com/neural-network-simulator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CB00B2-7FF0-354E-581F-79D053800784}"/>
              </a:ext>
            </a:extLst>
          </p:cNvPr>
          <p:cNvSpPr txBox="1"/>
          <p:nvPr/>
        </p:nvSpPr>
        <p:spPr>
          <a:xfrm>
            <a:off x="271505" y="5981141"/>
            <a:ext cx="11082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If you curious about the exact calculation process (scary mathematic things</a:t>
            </a:r>
            <a:r>
              <a:rPr lang="zh-CN" altLang="en-US" dirty="0"/>
              <a:t>😫</a:t>
            </a:r>
            <a:r>
              <a:rPr lang="en-US" altLang="zh-CN" dirty="0"/>
              <a:t>), this site is helpful!</a:t>
            </a:r>
            <a:endParaRPr lang="zh-CN" alt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2B33010-C14E-AC34-543F-6E9B25B27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505" y="4624402"/>
            <a:ext cx="114486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dirty="0"/>
              <a:t>Gradient descent is based on calculus. A derivative tells us the instantaneous rate at which the loss changes with a parameter: if we increase that parameter slightly, will the loss go up or down, and how quickly?</a:t>
            </a:r>
          </a:p>
          <a:p>
            <a:r>
              <a:rPr lang="en-US" altLang="zh-CN" dirty="0"/>
              <a:t>Imagine standing on a mountain, where the height represents the loss. The negative gradient points in the steepest downhill direction. We take a small step, recalculate, and repeat.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41C77FB-7F48-2C15-9748-5CCF29EBC05F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F95125-481B-5802-1D81-1C443066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659" y="1510632"/>
            <a:ext cx="3659563" cy="278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59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9D6CC4-5166-AB4B-4A75-A26B583E69E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2. Pooling Layer</a:t>
            </a:r>
            <a:endParaRPr lang="zh-CN" alt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60A7A6-3E17-E41A-7DF8-FA1BB400A12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Compress data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288E3A-D4E0-35CC-71C3-5D72F14BFA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CBED1-51CA-2819-8D96-0D6FC040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550" y="3581316"/>
            <a:ext cx="3938628" cy="3020452"/>
          </a:xfrm>
          <a:prstGeom prst="rect">
            <a:avLst/>
          </a:prstGeom>
        </p:spPr>
      </p:pic>
      <p:pic>
        <p:nvPicPr>
          <p:cNvPr id="1026" name="Picture 2" descr="池化层过程">
            <a:extLst>
              <a:ext uri="{FF2B5EF4-FFF2-40B4-BE49-F238E27FC236}">
                <a16:creationId xmlns:a16="http://schemas.microsoft.com/office/drawing/2014/main" id="{50720E0B-F393-4213-FCE5-A078B5D07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136" y="888580"/>
            <a:ext cx="4527480" cy="261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FEBD6B-F6E4-1ACF-00DC-64462966C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49960"/>
              </p:ext>
            </p:extLst>
          </p:nvPr>
        </p:nvGraphicFramePr>
        <p:xfrm>
          <a:off x="779554" y="3342485"/>
          <a:ext cx="6167582" cy="1258440"/>
        </p:xfrm>
        <a:graphic>
          <a:graphicData uri="http://schemas.openxmlformats.org/drawingml/2006/table">
            <a:tbl>
              <a:tblPr/>
              <a:tblGrid>
                <a:gridCol w="6167582">
                  <a:extLst>
                    <a:ext uri="{9D8B030D-6E8A-4147-A177-3AD203B41FA5}">
                      <a16:colId xmlns:a16="http://schemas.microsoft.com/office/drawing/2014/main" val="3141842675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r>
                        <a:rPr lang="en-US" sz="2400" dirty="0"/>
                        <a:t>Max Pooling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577931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r>
                        <a:rPr lang="en-US" sz="2400" dirty="0"/>
                        <a:t>Emphasizes the most prominent activation ("the strongest wins")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3314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D661FE-C0A8-16F5-E9A0-009E01064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244378"/>
              </p:ext>
            </p:extLst>
          </p:nvPr>
        </p:nvGraphicFramePr>
        <p:xfrm>
          <a:off x="779554" y="4957185"/>
          <a:ext cx="5798271" cy="1258440"/>
        </p:xfrm>
        <a:graphic>
          <a:graphicData uri="http://schemas.openxmlformats.org/drawingml/2006/table">
            <a:tbl>
              <a:tblPr/>
              <a:tblGrid>
                <a:gridCol w="5798271">
                  <a:extLst>
                    <a:ext uri="{9D8B030D-6E8A-4147-A177-3AD203B41FA5}">
                      <a16:colId xmlns:a16="http://schemas.microsoft.com/office/drawing/2014/main" val="191423364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r>
                        <a:rPr lang="en-US" sz="2400" dirty="0"/>
                        <a:t>Average Pooling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761904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r>
                        <a:rPr lang="en-US" sz="2400" dirty="0"/>
                        <a:t>Provides a more balanced representation of all features ("everyone gets a say")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70702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30EA64A-864A-D11F-800D-C6006BE77E50}"/>
              </a:ext>
            </a:extLst>
          </p:cNvPr>
          <p:cNvSpPr txBox="1"/>
          <p:nvPr/>
        </p:nvSpPr>
        <p:spPr>
          <a:xfrm>
            <a:off x="331130" y="1423035"/>
            <a:ext cx="68238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Pooling layer: reduces dimensionality and compresses information to help prevent overfitting.</a:t>
            </a:r>
            <a:endParaRPr lang="zh-CN" alt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880F20-4171-E22A-C11B-693731EE8E04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44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063AB58B-EAC7-76AE-E40D-8ACFD32DCB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3. Fully Connected Layer </a:t>
            </a:r>
            <a:endParaRPr lang="zh-CN" alt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40375F2-C0BE-8CFC-E9D3-774C9090AE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9350605" cy="480053"/>
          </a:xfrm>
        </p:spPr>
        <p:txBody>
          <a:bodyPr/>
          <a:lstStyle/>
          <a:p>
            <a:r>
              <a:rPr lang="en-US" altLang="zh-CN" dirty="0"/>
              <a:t>Fully connected layer (output layer): produces the final output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5BBE95-D367-7ADA-5D86-B1AA9B0F60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36</a:t>
            </a:fld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D2F987-8C1C-82EB-B45F-3F703F451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54" y="1331879"/>
            <a:ext cx="10272650" cy="2979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CD2A9-E299-8DB8-D314-CEF92D42865C}"/>
              </a:ext>
            </a:extLst>
          </p:cNvPr>
          <p:cNvSpPr txBox="1"/>
          <p:nvPr/>
        </p:nvSpPr>
        <p:spPr>
          <a:xfrm>
            <a:off x="7993144" y="1827667"/>
            <a:ext cx="123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1D Vector</a:t>
            </a:r>
            <a:endParaRPr lang="zh-CN" alt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BD2C90-3C86-27B7-F511-CB36AA67AD33}"/>
              </a:ext>
            </a:extLst>
          </p:cNvPr>
          <p:cNvCxnSpPr>
            <a:cxnSpLocks/>
          </p:cNvCxnSpPr>
          <p:nvPr/>
        </p:nvCxnSpPr>
        <p:spPr>
          <a:xfrm flipH="1">
            <a:off x="7645138" y="3429000"/>
            <a:ext cx="122549" cy="1454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334D7E-A423-0304-CDAA-1EE4633B604C}"/>
              </a:ext>
            </a:extLst>
          </p:cNvPr>
          <p:cNvSpPr txBox="1"/>
          <p:nvPr/>
        </p:nvSpPr>
        <p:spPr>
          <a:xfrm>
            <a:off x="3412503" y="4883085"/>
            <a:ext cx="6909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example, we have a 3D activation map with a shape of 64×7×7 (from 64 convolution kernels). We can then flatten it into a 1D vector of size 3136.</a:t>
            </a:r>
            <a:endParaRPr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8370F-CECD-91E3-5CAA-D1B2F8C6CBE8}"/>
              </a:ext>
            </a:extLst>
          </p:cNvPr>
          <p:cNvSpPr txBox="1"/>
          <p:nvPr/>
        </p:nvSpPr>
        <p:spPr>
          <a:xfrm>
            <a:off x="2223796" y="5942746"/>
            <a:ext cx="8222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Pass through the fully connected layer → obtain raw outputs (logits) → apply Sigmoid/</a:t>
            </a:r>
            <a:r>
              <a:rPr lang="en-US" altLang="zh-CN" dirty="0" err="1"/>
              <a:t>Softmax</a:t>
            </a:r>
            <a:r>
              <a:rPr lang="en-US" altLang="zh-CN" dirty="0"/>
              <a:t>/... → get the final prediction</a:t>
            </a:r>
            <a:endParaRPr lang="zh-CN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0FBC84-FA7A-93FD-EBEB-6F033D7408AE}"/>
              </a:ext>
            </a:extLst>
          </p:cNvPr>
          <p:cNvSpPr txBox="1"/>
          <p:nvPr/>
        </p:nvSpPr>
        <p:spPr>
          <a:xfrm>
            <a:off x="2223796" y="4377422"/>
            <a:ext cx="398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Flatten 3D activation maps</a:t>
            </a:r>
            <a:endParaRPr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ABF658-7BEF-B4E3-104A-98894D1101CA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06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FB6C47A-6CCE-5604-6BED-E10859BA51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3. Fully Connected Layer </a:t>
            </a:r>
            <a:endParaRPr lang="zh-CN" alt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372619D-BA69-0521-DB38-142726AB27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Example: How to obtain the output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1060D8-31BD-7D01-E62C-D4B8FFE649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37</a:t>
            </a:fld>
            <a:endParaRPr lang="zh-CN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941049-E741-8A39-1DB7-922DFC443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39045"/>
              </p:ext>
            </p:extLst>
          </p:nvPr>
        </p:nvGraphicFramePr>
        <p:xfrm>
          <a:off x="659876" y="2363079"/>
          <a:ext cx="4368800" cy="8763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0022902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130451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828247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978401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8662127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1041645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92908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44672890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Input 1 (56)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Input 2 (231)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Input 3 (24)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Input 4 (2)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 bias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logits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3791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Cat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-96.8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25959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Dog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437.9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02451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Ship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60.75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49556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B3BDCE7-9695-EF70-95C0-DAC779617139}"/>
              </a:ext>
            </a:extLst>
          </p:cNvPr>
          <p:cNvSpPr txBox="1"/>
          <p:nvPr/>
        </p:nvSpPr>
        <p:spPr>
          <a:xfrm>
            <a:off x="588882" y="1949053"/>
            <a:ext cx="1838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y = W·x + 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BD1ED1-8EC7-21F7-DF8A-2DB06E76983A}"/>
              </a:ext>
            </a:extLst>
          </p:cNvPr>
          <p:cNvGrpSpPr/>
          <p:nvPr/>
        </p:nvGrpSpPr>
        <p:grpSpPr>
          <a:xfrm>
            <a:off x="546568" y="3506570"/>
            <a:ext cx="6629975" cy="2629128"/>
            <a:chOff x="1668650" y="3277346"/>
            <a:chExt cx="6629975" cy="26291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689A2A-B904-BFF5-C50D-E58BDFEA0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8650" y="3277346"/>
              <a:ext cx="6629975" cy="262912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79E305-C9A6-61C4-DC67-19DAE3C7A4A6}"/>
                </a:ext>
              </a:extLst>
            </p:cNvPr>
            <p:cNvSpPr/>
            <p:nvPr/>
          </p:nvSpPr>
          <p:spPr>
            <a:xfrm>
              <a:off x="2121031" y="5288438"/>
              <a:ext cx="509047" cy="188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BB424C4-28ED-AC5E-F54B-E5056F5CA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576" y="1264047"/>
            <a:ext cx="3294870" cy="1560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FFC913-93C0-BC88-1F91-D3C8E4E17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177" y="2878096"/>
            <a:ext cx="3597947" cy="38243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E192E6-34AC-BD7D-F260-433BF7EFD0E7}"/>
              </a:ext>
            </a:extLst>
          </p:cNvPr>
          <p:cNvSpPr txBox="1"/>
          <p:nvPr/>
        </p:nvSpPr>
        <p:spPr>
          <a:xfrm>
            <a:off x="410198" y="145502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46AA"/>
                </a:solidFill>
              </a:rPr>
              <a:t>How to obtain the raw output (logits)</a:t>
            </a:r>
            <a:endParaRPr lang="zh-CN" altLang="en-US" b="1" dirty="0">
              <a:solidFill>
                <a:srgbClr val="0046AA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5F8DEB-1333-A5C2-0B95-7CF3D8AD1A16}"/>
              </a:ext>
            </a:extLst>
          </p:cNvPr>
          <p:cNvSpPr txBox="1"/>
          <p:nvPr/>
        </p:nvSpPr>
        <p:spPr>
          <a:xfrm>
            <a:off x="6862713" y="913610"/>
            <a:ext cx="5015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46AA"/>
                </a:solidFill>
              </a:rPr>
              <a:t>How to obtain the final output (</a:t>
            </a:r>
            <a:r>
              <a:rPr lang="en-US" altLang="zh-CN" b="1" dirty="0" err="1">
                <a:solidFill>
                  <a:srgbClr val="0046AA"/>
                </a:solidFill>
              </a:rPr>
              <a:t>Softmax</a:t>
            </a:r>
            <a:r>
              <a:rPr lang="en-US" altLang="zh-CN" b="1" dirty="0">
                <a:solidFill>
                  <a:srgbClr val="0046AA"/>
                </a:solidFill>
              </a:rPr>
              <a:t>)</a:t>
            </a:r>
            <a:endParaRPr lang="zh-CN" altLang="en-US" b="1" dirty="0">
              <a:solidFill>
                <a:srgbClr val="0046AA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2A9C9F-F085-24EB-7EEA-0BDE82FB1369}"/>
              </a:ext>
            </a:extLst>
          </p:cNvPr>
          <p:cNvSpPr txBox="1"/>
          <p:nvPr/>
        </p:nvSpPr>
        <p:spPr>
          <a:xfrm>
            <a:off x="4939645" y="5766366"/>
            <a:ext cx="50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328B-BF23-24F6-8AB0-04FA12653D04}"/>
              </a:ext>
            </a:extLst>
          </p:cNvPr>
          <p:cNvSpPr txBox="1"/>
          <p:nvPr/>
        </p:nvSpPr>
        <p:spPr>
          <a:xfrm>
            <a:off x="4051781" y="5951032"/>
            <a:ext cx="50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1E4B67-C788-52A6-B3FD-BC6F90AF04AE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905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C8765C-9C3A-6DD5-72B2-AE9EA7E260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Other Training Parameters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3C44F5-E15F-155B-D88B-B1A2D1784E5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28913-24F1-EE25-9F07-39E710EB1A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BAE58-7CB3-3623-F4AB-FF19D0370618}"/>
              </a:ext>
            </a:extLst>
          </p:cNvPr>
          <p:cNvSpPr txBox="1"/>
          <p:nvPr/>
        </p:nvSpPr>
        <p:spPr>
          <a:xfrm>
            <a:off x="385714" y="1691733"/>
            <a:ext cx="11208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b="1" dirty="0"/>
              <a:t>Forward propagation → Loss calculation → Backpropagation → Gradient descent → Parameter update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iteration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D1A018-1F35-D133-90F0-8D8F6CFEE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730781"/>
              </p:ext>
            </p:extLst>
          </p:nvPr>
        </p:nvGraphicFramePr>
        <p:xfrm>
          <a:off x="332564" y="2611978"/>
          <a:ext cx="6564850" cy="2194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282425">
                  <a:extLst>
                    <a:ext uri="{9D8B030D-6E8A-4147-A177-3AD203B41FA5}">
                      <a16:colId xmlns:a16="http://schemas.microsoft.com/office/drawing/2014/main" val="3801283707"/>
                    </a:ext>
                  </a:extLst>
                </a:gridCol>
                <a:gridCol w="3282425">
                  <a:extLst>
                    <a:ext uri="{9D8B030D-6E8A-4147-A177-3AD203B41FA5}">
                      <a16:colId xmlns:a16="http://schemas.microsoft.com/office/drawing/2014/main" val="2342944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495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Dataset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3000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974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833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Iterations per epoch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 (3000/100)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14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Number of training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Number of weights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× 30 = </a:t>
                      </a:r>
                      <a:r>
                        <a:rPr lang="en-US" b="1" dirty="0"/>
                        <a:t>600 times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071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4E4F80C-C9B9-EE1E-CECE-B8CBBA0290B0}"/>
              </a:ext>
            </a:extLst>
          </p:cNvPr>
          <p:cNvSpPr txBox="1"/>
          <p:nvPr/>
        </p:nvSpPr>
        <p:spPr>
          <a:xfrm>
            <a:off x="8776355" y="229089"/>
            <a:ext cx="3415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Underlying Mechanism-CNN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C48E7E-7C18-F590-6E32-FC38082C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812" y="2352751"/>
            <a:ext cx="4105590" cy="4085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550B1A-9BCA-E531-C777-5578CA2F4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62" y="4410622"/>
            <a:ext cx="556352" cy="4181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4D9CAF-6437-33CD-1AA7-574878FAB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707" y="4017701"/>
            <a:ext cx="630486" cy="3220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6168DE-18BF-5D14-7913-AD87D00E3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844" y="3415604"/>
            <a:ext cx="538770" cy="5873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D02B9E-A625-1A8B-6451-B3B2EA304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864" y="4828751"/>
            <a:ext cx="411217" cy="418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D51F77-CBA8-C82D-BD20-935DCD2663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03" y="5035678"/>
            <a:ext cx="6828711" cy="149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08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415A-BD32-460B-3FC7-B112CACF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E25818-A1F1-D46B-59EE-4E2F26E3DE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3200" b="1" dirty="0"/>
              <a:t>Underlying Mechanism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8A10-DC72-9DC3-9FC4-3B9224AB4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836714"/>
            <a:ext cx="10363200" cy="480053"/>
          </a:xfrm>
        </p:spPr>
        <p:txBody>
          <a:bodyPr/>
          <a:lstStyle/>
          <a:p>
            <a:r>
              <a:rPr lang="en-US" altLang="zh-CN" sz="2400" dirty="0"/>
              <a:t>Can we build our own hand detection model from scratch?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E6821-54CB-C523-92C7-F7F6B8510B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472694-22BD-22A3-1DC4-323A1FAB0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44" y="1424022"/>
            <a:ext cx="62032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Prepare a large dataset labeled with 21 hand </a:t>
            </a: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keypoints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zh-CN" dirty="0"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Train a CNN network using deep learning frameworks such as </a:t>
            </a: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PyTorch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or TensorFlow (requires high GPU performance)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zh-CN" dirty="0"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Output the (x, y, z) coordinates of the 21 </a:t>
            </a: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keypoints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zh-CN" dirty="0"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Use OpenCV to render the connection graph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34C10-767C-10F1-ECB3-27A07B9CED80}"/>
              </a:ext>
            </a:extLst>
          </p:cNvPr>
          <p:cNvSpPr txBox="1"/>
          <p:nvPr/>
        </p:nvSpPr>
        <p:spPr>
          <a:xfrm>
            <a:off x="521126" y="4644215"/>
            <a:ext cx="11509887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In theory, it is achievable.</a:t>
            </a:r>
            <a:br>
              <a:rPr lang="en-US" altLang="zh-CN" dirty="0"/>
            </a:br>
            <a:r>
              <a:rPr lang="en-US" altLang="zh-CN" dirty="0"/>
              <a:t>However, due to hardware limitations, we did not implement it in practice.</a:t>
            </a:r>
            <a:br>
              <a:rPr lang="en-US" altLang="zh-CN" dirty="0"/>
            </a:br>
            <a:r>
              <a:rPr lang="en-US" altLang="zh-CN" dirty="0"/>
              <a:t>Instead, we used TensorFlow to train a simple model based on VGG16 to classify cats and dogs.</a:t>
            </a:r>
            <a:br>
              <a:rPr lang="en-US" altLang="zh-CN" dirty="0"/>
            </a:br>
            <a:r>
              <a:rPr lang="en-US" altLang="zh-CN" dirty="0"/>
              <a:t>The underlying mechanism is similar (though much simpler in practice).</a:t>
            </a:r>
            <a:endParaRPr lang="zh-CN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86191F-A7E1-6017-972D-8CEA19A55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28" y="1463355"/>
            <a:ext cx="5508403" cy="29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398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D94F96-5E61-39C4-192B-185A8C3E1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1915" y="368338"/>
            <a:ext cx="1968809" cy="480131"/>
          </a:xfrm>
        </p:spPr>
        <p:txBody>
          <a:bodyPr/>
          <a:lstStyle/>
          <a:p>
            <a:r>
              <a:rPr lang="en-US" altLang="zh-CN" dirty="0"/>
              <a:t> Application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BC42C3-7660-1526-D255-6FBCC109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644" y="1029986"/>
            <a:ext cx="2837854" cy="1779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B3128C-6CB8-1FB1-90FE-53E8D46B9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899" y="4065408"/>
            <a:ext cx="2685246" cy="19379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855956-C9A7-606F-9F9A-195A04079550}"/>
              </a:ext>
            </a:extLst>
          </p:cNvPr>
          <p:cNvSpPr txBox="1"/>
          <p:nvPr/>
        </p:nvSpPr>
        <p:spPr>
          <a:xfrm>
            <a:off x="2520940" y="6089035"/>
            <a:ext cx="698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VR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E5ABE-08AA-9344-D9CC-383F232CC5C4}"/>
              </a:ext>
            </a:extLst>
          </p:cNvPr>
          <p:cNvSpPr txBox="1"/>
          <p:nvPr/>
        </p:nvSpPr>
        <p:spPr>
          <a:xfrm>
            <a:off x="7344644" y="2945441"/>
            <a:ext cx="3157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sign language recognition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85E054-5F2E-D899-7397-8B3510F42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409" y="1166089"/>
            <a:ext cx="3160225" cy="2035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B73E91-6ABE-8700-1468-832823C9F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734" y="3613666"/>
            <a:ext cx="3904213" cy="212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61782E-F705-F960-BB52-E881720C0F0F}"/>
              </a:ext>
            </a:extLst>
          </p:cNvPr>
          <p:cNvSpPr txBox="1"/>
          <p:nvPr/>
        </p:nvSpPr>
        <p:spPr>
          <a:xfrm>
            <a:off x="6426741" y="624578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https://www.youtube.com/watch?v=YrtANPtnhyg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535DA0-4CB9-AAEE-D767-0D13524C81D3}"/>
              </a:ext>
            </a:extLst>
          </p:cNvPr>
          <p:cNvSpPr txBox="1"/>
          <p:nvPr/>
        </p:nvSpPr>
        <p:spPr>
          <a:xfrm>
            <a:off x="7816467" y="5818679"/>
            <a:ext cx="2454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Future technology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6CAFB-8984-573B-DEEC-D65292209ED5}"/>
              </a:ext>
            </a:extLst>
          </p:cNvPr>
          <p:cNvSpPr txBox="1"/>
          <p:nvPr/>
        </p:nvSpPr>
        <p:spPr>
          <a:xfrm>
            <a:off x="1640289" y="3338933"/>
            <a:ext cx="3157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Smart home interaction</a:t>
            </a:r>
          </a:p>
        </p:txBody>
      </p:sp>
    </p:spTree>
    <p:extLst>
      <p:ext uri="{BB962C8B-B14F-4D97-AF65-F5344CB8AC3E}">
        <p14:creationId xmlns:p14="http://schemas.microsoft.com/office/powerpoint/2010/main" val="3733542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84C5ECF-C94F-81B4-46E9-A9DB8621EA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Machine Learning and Human Learning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13877-4550-D8F3-2225-36927869B0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01528" y="6375513"/>
            <a:ext cx="2743200" cy="365125"/>
          </a:xfrm>
        </p:spPr>
        <p:txBody>
          <a:bodyPr/>
          <a:lstStyle/>
          <a:p>
            <a:fld id="{1142712B-93F3-4672-A755-C979EEEC527E}" type="slidenum">
              <a:rPr lang="zh-CN" altLang="en-US" smtClean="0"/>
              <a:t>41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E75111-A50E-251A-65B8-948F8C588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528" y="3880675"/>
            <a:ext cx="3179252" cy="26582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057586-68F7-F312-4945-48BFB2D2B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162" y="836714"/>
            <a:ext cx="3150638" cy="29367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A90E5C3-D027-CE0B-79C4-1BDCDC177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38" y="1000418"/>
            <a:ext cx="2724309" cy="12492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AC96922-B973-BC54-D26C-8D26851DCB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94" y="2525169"/>
            <a:ext cx="8013882" cy="404494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F1FEAA9-7F45-02FC-8DDC-3522A92739AF}"/>
              </a:ext>
            </a:extLst>
          </p:cNvPr>
          <p:cNvSpPr txBox="1"/>
          <p:nvPr/>
        </p:nvSpPr>
        <p:spPr>
          <a:xfrm>
            <a:off x="2625039" y="6434259"/>
            <a:ext cx="56495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https://www.overfitting.io/neural-network-playground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AFE905-BE09-A988-A1B4-264C3F664D6E}"/>
              </a:ext>
            </a:extLst>
          </p:cNvPr>
          <p:cNvSpPr txBox="1"/>
          <p:nvPr/>
        </p:nvSpPr>
        <p:spPr>
          <a:xfrm>
            <a:off x="9255428" y="6200778"/>
            <a:ext cx="19221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Human Learning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C6530B-D919-82CC-4317-FBA0242EB3BA}"/>
              </a:ext>
            </a:extLst>
          </p:cNvPr>
          <p:cNvSpPr txBox="1"/>
          <p:nvPr/>
        </p:nvSpPr>
        <p:spPr>
          <a:xfrm>
            <a:off x="451660" y="6434259"/>
            <a:ext cx="19905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Machine Learning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1A60573-B226-7E74-8E17-3C2850FCFAF7}"/>
              </a:ext>
            </a:extLst>
          </p:cNvPr>
          <p:cNvSpPr txBox="1"/>
          <p:nvPr/>
        </p:nvSpPr>
        <p:spPr>
          <a:xfrm>
            <a:off x="2894047" y="729459"/>
            <a:ext cx="56495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dirty="0"/>
              <a:t>What you’re seeing under the microscope are neurons “reaching out” to one another.</a:t>
            </a:r>
          </a:p>
          <a:p>
            <a:pPr>
              <a:buNone/>
            </a:pPr>
            <a:r>
              <a:rPr lang="en-US" altLang="zh-CN" sz="1400" dirty="0"/>
              <a:t>These tiny, hand-like structures at the tips are called growth cones. They explore their surroundings, looking for targets to connect with.</a:t>
            </a:r>
          </a:p>
          <a:p>
            <a:pPr>
              <a:buNone/>
            </a:pPr>
            <a:r>
              <a:rPr lang="en-US" altLang="zh-CN" sz="1400" dirty="0"/>
              <a:t>When neurons form connections called synapses, information can pass from one neuron to another.</a:t>
            </a:r>
          </a:p>
          <a:p>
            <a:pPr>
              <a:buNone/>
            </a:pPr>
            <a:r>
              <a:rPr lang="en-US" altLang="zh-CN" sz="1400" dirty="0"/>
              <a:t>Vast numbers of these connections form neural networks, allowing us to feel, move, think, learn, and remember.</a:t>
            </a:r>
          </a:p>
        </p:txBody>
      </p:sp>
    </p:spTree>
    <p:extLst>
      <p:ext uri="{BB962C8B-B14F-4D97-AF65-F5344CB8AC3E}">
        <p14:creationId xmlns:p14="http://schemas.microsoft.com/office/powerpoint/2010/main" val="1110295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9A31-CFDA-7693-5A72-FF898D18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16B02D7-7ADC-794A-43C0-3208D0732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86" y="5198607"/>
            <a:ext cx="3802652" cy="151721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E9A204-2216-3BA2-ABBB-670661C002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Final call back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B3F12-256B-0438-2C58-6E0E43F720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42712B-93F3-4672-A755-C979EEEC527E}" type="slidenum">
              <a:rPr lang="zh-CN" altLang="en-US" smtClean="0"/>
              <a:t>42</a:t>
            </a:fld>
            <a:endParaRPr lang="zh-CN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F2542F-2AA6-9B54-7BE5-D27143B9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992" y="856771"/>
            <a:ext cx="3409050" cy="28289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B0D5F7-EBA1-2DD0-874B-AF600400F8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587"/>
          <a:stretch>
            <a:fillRect/>
          </a:stretch>
        </p:blipFill>
        <p:spPr>
          <a:xfrm>
            <a:off x="8502992" y="3789906"/>
            <a:ext cx="3324678" cy="26645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25825F0-B836-D713-D8B7-FC60B86B85BE}"/>
              </a:ext>
            </a:extLst>
          </p:cNvPr>
          <p:cNvSpPr txBox="1"/>
          <p:nvPr/>
        </p:nvSpPr>
        <p:spPr>
          <a:xfrm>
            <a:off x="8104554" y="771122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96EF20-9DA9-FFD7-3E79-E5B44D90E378}"/>
              </a:ext>
            </a:extLst>
          </p:cNvPr>
          <p:cNvSpPr txBox="1"/>
          <p:nvPr/>
        </p:nvSpPr>
        <p:spPr>
          <a:xfrm>
            <a:off x="8106786" y="3700949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④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09A59F-83C4-2898-6416-80D01E955DC3}"/>
              </a:ext>
            </a:extLst>
          </p:cNvPr>
          <p:cNvSpPr/>
          <p:nvPr/>
        </p:nvSpPr>
        <p:spPr>
          <a:xfrm>
            <a:off x="10179278" y="970638"/>
            <a:ext cx="480261" cy="11715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BD8AA5-B1E2-0431-9162-0A8766FE67B1}"/>
              </a:ext>
            </a:extLst>
          </p:cNvPr>
          <p:cNvSpPr/>
          <p:nvPr/>
        </p:nvSpPr>
        <p:spPr>
          <a:xfrm>
            <a:off x="9512287" y="3811770"/>
            <a:ext cx="480261" cy="11715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Explosion: 8 Points 25">
            <a:extLst>
              <a:ext uri="{FF2B5EF4-FFF2-40B4-BE49-F238E27FC236}">
                <a16:creationId xmlns:a16="http://schemas.microsoft.com/office/drawing/2014/main" id="{99011343-6E0A-DA96-3FE4-36359CAA163E}"/>
              </a:ext>
            </a:extLst>
          </p:cNvPr>
          <p:cNvSpPr/>
          <p:nvPr/>
        </p:nvSpPr>
        <p:spPr>
          <a:xfrm>
            <a:off x="8108171" y="4235207"/>
            <a:ext cx="1016551" cy="680695"/>
          </a:xfrm>
          <a:prstGeom prst="irregularSeal1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WIN</a:t>
            </a:r>
            <a:endParaRPr lang="zh-CN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CDA88D-92B7-C8E8-396A-A1CBC9DA0CC5}"/>
              </a:ext>
            </a:extLst>
          </p:cNvPr>
          <p:cNvSpPr txBox="1"/>
          <p:nvPr/>
        </p:nvSpPr>
        <p:spPr>
          <a:xfrm>
            <a:off x="203616" y="1842061"/>
            <a:ext cx="38750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Why Neural network is “black box”?</a:t>
            </a:r>
          </a:p>
          <a:p>
            <a:endParaRPr lang="en-US" altLang="zh-CN" dirty="0"/>
          </a:p>
          <a:p>
            <a:r>
              <a:rPr lang="en-US" altLang="zh-CN" dirty="0"/>
              <a:t>Why MLP is much smaller?</a:t>
            </a:r>
          </a:p>
          <a:p>
            <a:endParaRPr lang="en-US" altLang="zh-CN" dirty="0"/>
          </a:p>
          <a:p>
            <a:r>
              <a:rPr lang="en-US" altLang="zh-CN" dirty="0"/>
              <a:t>Why LLM cannot always provide same answer?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A8278-A6D8-9BFB-BF5A-C6E62CA59B45}"/>
              </a:ext>
            </a:extLst>
          </p:cNvPr>
          <p:cNvSpPr txBox="1"/>
          <p:nvPr/>
        </p:nvSpPr>
        <p:spPr>
          <a:xfrm>
            <a:off x="420351" y="5651954"/>
            <a:ext cx="100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1.24MB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1316C-3026-B542-17D8-102C8F5552E2}"/>
              </a:ext>
            </a:extLst>
          </p:cNvPr>
          <p:cNvSpPr txBox="1"/>
          <p:nvPr/>
        </p:nvSpPr>
        <p:spPr>
          <a:xfrm>
            <a:off x="1751051" y="5651954"/>
            <a:ext cx="100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383KB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EB102-7C6B-EBE6-4AB0-567D5189D98F}"/>
              </a:ext>
            </a:extLst>
          </p:cNvPr>
          <p:cNvSpPr txBox="1"/>
          <p:nvPr/>
        </p:nvSpPr>
        <p:spPr>
          <a:xfrm>
            <a:off x="3020822" y="5651954"/>
            <a:ext cx="100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4.92MB</a:t>
            </a:r>
            <a:endParaRPr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316D5B-81D8-0CA8-BBC1-E71EBC27FC9A}"/>
              </a:ext>
            </a:extLst>
          </p:cNvPr>
          <p:cNvSpPr txBox="1"/>
          <p:nvPr/>
        </p:nvSpPr>
        <p:spPr>
          <a:xfrm>
            <a:off x="288480" y="5198607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39CA5D-EBB9-D083-12BF-8AF486839F5C}"/>
              </a:ext>
            </a:extLst>
          </p:cNvPr>
          <p:cNvSpPr txBox="1"/>
          <p:nvPr/>
        </p:nvSpPr>
        <p:spPr>
          <a:xfrm>
            <a:off x="2888259" y="5137942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789604-7E21-4A24-5DF7-DB83E18932A8}"/>
              </a:ext>
            </a:extLst>
          </p:cNvPr>
          <p:cNvSpPr txBox="1"/>
          <p:nvPr/>
        </p:nvSpPr>
        <p:spPr>
          <a:xfrm>
            <a:off x="1664664" y="5171003"/>
            <a:ext cx="4183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④</a:t>
            </a:r>
          </a:p>
        </p:txBody>
      </p:sp>
      <p:sp>
        <p:nvSpPr>
          <p:cNvPr id="32" name="Explosion: 8 Points 31">
            <a:extLst>
              <a:ext uri="{FF2B5EF4-FFF2-40B4-BE49-F238E27FC236}">
                <a16:creationId xmlns:a16="http://schemas.microsoft.com/office/drawing/2014/main" id="{E4DD362D-B6B5-F372-E89A-5C4467483B1C}"/>
              </a:ext>
            </a:extLst>
          </p:cNvPr>
          <p:cNvSpPr/>
          <p:nvPr/>
        </p:nvSpPr>
        <p:spPr>
          <a:xfrm>
            <a:off x="2197883" y="5855366"/>
            <a:ext cx="690376" cy="476382"/>
          </a:xfrm>
          <a:prstGeom prst="irregularSeal1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/>
              <a:t>WIN</a:t>
            </a:r>
            <a:endParaRPr lang="zh-CN" altLang="en-US" sz="7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5D1A5C-1B0A-0A05-0AD2-E24312385A00}"/>
              </a:ext>
            </a:extLst>
          </p:cNvPr>
          <p:cNvSpPr txBox="1"/>
          <p:nvPr/>
        </p:nvSpPr>
        <p:spPr>
          <a:xfrm>
            <a:off x="1094386" y="1162318"/>
            <a:ext cx="8516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Each red dot represents a person who will be late on their credit card payment.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C2DADFC-C580-10CA-10C1-8E219E466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202" y="1698253"/>
            <a:ext cx="3717352" cy="28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48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l="-206000" r="-2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2033BA32-F038-5A8D-F15C-C605361218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1915" y="368338"/>
            <a:ext cx="2334293" cy="480131"/>
          </a:xfrm>
        </p:spPr>
        <p:txBody>
          <a:bodyPr/>
          <a:lstStyle/>
          <a:p>
            <a:r>
              <a:rPr lang="en-US" altLang="zh-CN" dirty="0"/>
              <a:t>Next Session?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11655-C985-C8A7-1E30-A7CB84CE5A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1142712B-93F3-4672-A755-C979EEEC527E}" type="slidenum">
              <a:rPr lang="zh-CN" altLang="en-US" smtClean="0"/>
              <a:t>43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8A245-B0F8-1172-F7C3-E8906C95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179" y="167125"/>
            <a:ext cx="5558041" cy="65237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D0318FC-88AA-7FC1-FAFA-23FCD746E83F}"/>
              </a:ext>
            </a:extLst>
          </p:cNvPr>
          <p:cNvSpPr txBox="1"/>
          <p:nvPr/>
        </p:nvSpPr>
        <p:spPr>
          <a:xfrm>
            <a:off x="7016612" y="6171685"/>
            <a:ext cx="947931" cy="389513"/>
          </a:xfrm>
          <a:prstGeom prst="flowChartTerminator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Agentic AI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C5E3BFF-4B82-2E9A-6B5C-1036F3023932}"/>
              </a:ext>
            </a:extLst>
          </p:cNvPr>
          <p:cNvSpPr/>
          <p:nvPr/>
        </p:nvSpPr>
        <p:spPr>
          <a:xfrm>
            <a:off x="8302690" y="5416420"/>
            <a:ext cx="261257" cy="289249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4B16564D-5D1C-F764-D849-FFB9AEA7E8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0704" y="5551714"/>
            <a:ext cx="980900" cy="619970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6">
            <a:extLst>
              <a:ext uri="{FF2B5EF4-FFF2-40B4-BE49-F238E27FC236}">
                <a16:creationId xmlns:a16="http://schemas.microsoft.com/office/drawing/2014/main" id="{323094BE-7945-C7B7-3890-35A3773ABB4B}"/>
              </a:ext>
            </a:extLst>
          </p:cNvPr>
          <p:cNvSpPr/>
          <p:nvPr/>
        </p:nvSpPr>
        <p:spPr>
          <a:xfrm>
            <a:off x="8985380" y="5626888"/>
            <a:ext cx="615820" cy="365124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1EB72F-F3EC-E4C2-0AC3-A2F76051CBD7}"/>
              </a:ext>
            </a:extLst>
          </p:cNvPr>
          <p:cNvSpPr txBox="1"/>
          <p:nvPr/>
        </p:nvSpPr>
        <p:spPr>
          <a:xfrm>
            <a:off x="1061915" y="923730"/>
            <a:ext cx="354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Not sure if it will happen though…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18181E-2E70-84AE-DE86-8D26675E7D80}"/>
              </a:ext>
            </a:extLst>
          </p:cNvPr>
          <p:cNvSpPr txBox="1"/>
          <p:nvPr/>
        </p:nvSpPr>
        <p:spPr>
          <a:xfrm>
            <a:off x="390997" y="1887488"/>
            <a:ext cx="33776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What is LLM?</a:t>
            </a:r>
          </a:p>
          <a:p>
            <a:endParaRPr lang="en-US" altLang="zh-CN" dirty="0"/>
          </a:p>
          <a:p>
            <a:r>
              <a:rPr lang="en-US" altLang="zh-CN" dirty="0"/>
              <a:t>What ChatGPT stands for?</a:t>
            </a:r>
          </a:p>
          <a:p>
            <a:endParaRPr lang="en-US" altLang="zh-CN" dirty="0"/>
          </a:p>
          <a:p>
            <a:r>
              <a:rPr lang="en-US" altLang="zh-CN" dirty="0"/>
              <a:t>What is transformer?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What happened in 2017?</a:t>
            </a:r>
          </a:p>
          <a:p>
            <a:r>
              <a:rPr lang="en-US" altLang="zh-CN" dirty="0"/>
              <a:t>Attention is all you need!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What is attention?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EE1C93E-1614-70C2-9B11-49C9FEEE6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208" y="4460007"/>
            <a:ext cx="1848441" cy="20313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0FCAF83-1966-2441-5E82-0F23C7614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208" y="1442967"/>
            <a:ext cx="1848441" cy="26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88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36B1199-2488-4DF5-E8A6-7621887F379A}"/>
              </a:ext>
            </a:extLst>
          </p:cNvPr>
          <p:cNvSpPr txBox="1"/>
          <p:nvPr/>
        </p:nvSpPr>
        <p:spPr>
          <a:xfrm>
            <a:off x="2248230" y="2988948"/>
            <a:ext cx="6172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https://github.com/chloexj/gesture_recognition.git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F0ECD-519F-DAC7-BFAE-5C76A20F3693}"/>
              </a:ext>
            </a:extLst>
          </p:cNvPr>
          <p:cNvSpPr txBox="1"/>
          <p:nvPr/>
        </p:nvSpPr>
        <p:spPr>
          <a:xfrm>
            <a:off x="2248230" y="3368289"/>
            <a:ext cx="6172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https://github.com/chloexj/catOrDog.git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75014-35CF-2A04-5577-57B27BB69A6D}"/>
              </a:ext>
            </a:extLst>
          </p:cNvPr>
          <p:cNvSpPr txBox="1"/>
          <p:nvPr/>
        </p:nvSpPr>
        <p:spPr>
          <a:xfrm>
            <a:off x="2248230" y="3735308"/>
            <a:ext cx="6172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https://github.com/chloexj/PPT_page_turn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17008B-7986-913A-04B8-B3F39133DCF3}"/>
              </a:ext>
            </a:extLst>
          </p:cNvPr>
          <p:cNvSpPr txBox="1"/>
          <p:nvPr/>
        </p:nvSpPr>
        <p:spPr>
          <a:xfrm>
            <a:off x="2322876" y="4260376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ea typeface="Arial Unicode MS" panose="020B0604020202020204"/>
              </a:rPr>
              <a:t>Chloe Zhang</a:t>
            </a:r>
          </a:p>
          <a:p>
            <a:endParaRPr lang="en-US" altLang="zh-CN" sz="1800" dirty="0">
              <a:solidFill>
                <a:schemeClr val="bg1"/>
              </a:solidFill>
              <a:ea typeface="Arial Unicode MS" panose="020B0604020202020204"/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Date: 17/Oct/2026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BC8D100-5263-123B-790D-839987275FBF}"/>
              </a:ext>
            </a:extLst>
          </p:cNvPr>
          <p:cNvSpPr txBox="1">
            <a:spLocks/>
          </p:cNvSpPr>
          <p:nvPr/>
        </p:nvSpPr>
        <p:spPr>
          <a:xfrm>
            <a:off x="2034546" y="4629708"/>
            <a:ext cx="3107803" cy="398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4416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8199</TotalTime>
  <Words>3100</Words>
  <Application>Microsoft Office PowerPoint</Application>
  <PresentationFormat>宽屏</PresentationFormat>
  <Paragraphs>446</Paragraphs>
  <Slides>44</Slides>
  <Notes>5</Notes>
  <HiddenSlides>4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Arial Unicode MS</vt:lpstr>
      <vt:lpstr>OPPOSans R</vt:lpstr>
      <vt:lpstr>Poppins-Medium</vt:lpstr>
      <vt:lpstr>等线</vt:lpstr>
      <vt:lpstr>等线 Light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Chloe Zhang</dc:creator>
  <cp:lastModifiedBy>Chloe Zhang</cp:lastModifiedBy>
  <cp:revision>204</cp:revision>
  <dcterms:created xsi:type="dcterms:W3CDTF">2024-11-10T01:07:04Z</dcterms:created>
  <dcterms:modified xsi:type="dcterms:W3CDTF">2026-10-20T02:36:19Z</dcterms:modified>
</cp:coreProperties>
</file>